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71165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420000">
            <a:off x="6400800" y="342900"/>
            <a:ext cx="2357438" cy="1500188"/>
          </a:xfrm>
          <a:prstGeom prst="rect">
            <a:avLst/>
          </a:prstGeom>
          <a:solidFill>
            <a:srgbClr val="004D40">
              <a:alpha val="1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85775" y="385763"/>
            <a:ext cx="5395875" cy="182166"/>
          </a:xfrm>
          <a:prstGeom prst="rect">
            <a:avLst/>
          </a:prstGeom>
          <a:noFill/>
          <a:ln/>
        </p:spPr>
        <p:txBody>
          <a:bodyPr wrap="square" lIns="0" tIns="51054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VIBE CODERS TOKYO #9 · MODELS, MODELS, MODELS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485775" y="982266"/>
            <a:ext cx="5395875" cy="19611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3400" b="1" spc="-2" kern="0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If an AI coding agent can </a:t>
            </a:r>
            <a:r>
              <a:rPr lang="en-US" sz="3400" b="1" spc="-2" kern="0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think harder,</a:t>
            </a:r>
            <a:r>
              <a:rPr lang="en-US" sz="3400" b="1" spc="-2" kern="0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
</a:t>
            </a:r>
            <a:r>
              <a:rPr lang="en-US" sz="3400" b="1" spc="-2" kern="0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should we always ask it </a:t>
            </a:r>
            <a:r>
              <a:rPr lang="en-US" sz="3400" b="1" spc="-2" kern="0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to?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85775" y="3072036"/>
            <a:ext cx="400764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Choosing reasoning effort in </a:t>
            </a:r>
            <a:r>
              <a:rPr lang="en-US" sz="1000" b="1" dirty="0">
                <a:solidFill>
                  <a:srgbClr val="00695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Claude Code</a:t>
            </a: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and </a:t>
            </a:r>
            <a:r>
              <a:rPr lang="en-US" sz="1000" b="1" dirty="0">
                <a:solidFill>
                  <a:srgbClr val="00695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Codex</a:t>
            </a: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85775" y="3700686"/>
            <a:ext cx="4007644" cy="1668066"/>
          </a:xfrm>
          <a:prstGeom prst="rect">
            <a:avLst/>
          </a:prstGeom>
          <a:solidFill>
            <a:srgbClr val="E0F2F1">
              <a:alpha val="72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85775" y="3700686"/>
            <a:ext cx="4007644" cy="1668066"/>
          </a:xfrm>
          <a:prstGeom prst="rect">
            <a:avLst/>
          </a:prstGeom>
          <a:noFill/>
          <a:ln/>
        </p:spPr>
        <p:txBody>
          <a:bodyPr wrap="square" lIns="119126" tIns="102108" rIns="119126" bIns="8509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Audience vote →</a:t>
            </a: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Light, Medium, or Deep?</a:t>
            </a: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What would you choose for your next coding task?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6038813" y="3500661"/>
            <a:ext cx="2619412" cy="575072"/>
          </a:xfrm>
          <a:prstGeom prst="rect">
            <a:avLst/>
          </a:prstGeom>
          <a:solidFill>
            <a:srgbClr val="FFFFFF">
              <a:alpha val="25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4538" y="3572098"/>
            <a:ext cx="2447962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LIGHT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4538" y="3875708"/>
            <a:ext cx="142875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Fast · clear · reversible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6195975" y="4132883"/>
            <a:ext cx="2462250" cy="575072"/>
          </a:xfrm>
          <a:prstGeom prst="rect">
            <a:avLst/>
          </a:prstGeom>
          <a:solidFill>
            <a:srgbClr val="00695C">
              <a:alpha val="10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81700" y="4204320"/>
            <a:ext cx="22908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MEDIUM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281700" y="4507929"/>
            <a:ext cx="171450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Context · coordination · tests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6353138" y="4765104"/>
            <a:ext cx="2305087" cy="575072"/>
          </a:xfrm>
          <a:prstGeom prst="rect">
            <a:avLst/>
          </a:prstGeom>
          <a:solidFill>
            <a:srgbClr val="FF5252">
              <a:alpha val="20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38863" y="4836542"/>
            <a:ext cx="2133637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DEEP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38863" y="5140151"/>
            <a:ext cx="177165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Ambiguous · complex · high-risk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485775" y="5468764"/>
            <a:ext cx="81724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spc="1" kern="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 practical framework for choosing how much thinking a coding task deserves</a:t>
            </a:r>
            <a:endParaRPr lang="en-US" sz="600" dirty="0"/>
          </a:p>
        </p:txBody>
      </p:sp>
      <p:sp>
        <p:nvSpPr>
          <p:cNvPr id="19" name="Shape 16"/>
          <p:cNvSpPr/>
          <p:nvPr/>
        </p:nvSpPr>
        <p:spPr>
          <a:xfrm rot="480000">
            <a:off x="2000250" y="4268558"/>
            <a:ext cx="1857375" cy="1214438"/>
          </a:xfrm>
          <a:prstGeom prst="rect">
            <a:avLst/>
          </a:prstGeom>
          <a:solidFill>
            <a:srgbClr val="FF5252">
              <a:alpha val="18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686425" y="3614738"/>
            <a:ext cx="3071813" cy="1285875"/>
          </a:xfrm>
          <a:prstGeom prst="rect">
            <a:avLst/>
          </a:prstGeom>
          <a:solidFill>
            <a:srgbClr val="FF5252">
              <a:alpha val="1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85775" y="342900"/>
            <a:ext cx="8172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02 / THE IDEA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85775" y="617934"/>
            <a:ext cx="8172450" cy="4308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95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What does “reasoning effort” mean?</a:t>
            </a:r>
            <a:endParaRPr lang="en-US" sz="2950" dirty="0"/>
          </a:p>
        </p:txBody>
      </p:sp>
      <p:sp>
        <p:nvSpPr>
          <p:cNvPr id="6" name="Text 3"/>
          <p:cNvSpPr/>
          <p:nvPr/>
        </p:nvSpPr>
        <p:spPr>
          <a:xfrm>
            <a:off x="485775" y="1498848"/>
            <a:ext cx="2624100" cy="951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200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How much thinking does the task deserve?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85775" y="2607525"/>
            <a:ext cx="26241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More thinking is not automatically better.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409913" y="1334542"/>
            <a:ext cx="2552719" cy="1271588"/>
          </a:xfrm>
          <a:prstGeom prst="rect">
            <a:avLst/>
          </a:prstGeom>
          <a:solidFill>
            <a:srgbClr val="FFFFFF">
              <a:alpha val="2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31357" y="1463129"/>
            <a:ext cx="2309831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5252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01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3531357" y="1831032"/>
            <a:ext cx="2309831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Context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531357" y="2102495"/>
            <a:ext cx="180022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How much code must it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531357" y="2288232"/>
            <a:ext cx="9429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understand?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105506" y="1334542"/>
            <a:ext cx="2552719" cy="1271588"/>
          </a:xfrm>
          <a:prstGeom prst="rect">
            <a:avLst/>
          </a:prstGeom>
          <a:solidFill>
            <a:srgbClr val="00695C">
              <a:alpha val="1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6950" y="1463129"/>
            <a:ext cx="2309831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5252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02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6226950" y="1831032"/>
            <a:ext cx="2309831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Alternatives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226950" y="2102495"/>
            <a:ext cx="197167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How many approaches are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226950" y="2288232"/>
            <a:ext cx="85725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plausible?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09913" y="2713286"/>
            <a:ext cx="2552719" cy="1271588"/>
          </a:xfrm>
          <a:prstGeom prst="rect">
            <a:avLst/>
          </a:prstGeom>
          <a:solidFill>
            <a:srgbClr val="FF5252">
              <a:alpha val="14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31357" y="2841873"/>
            <a:ext cx="2309831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5252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03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3531357" y="3209776"/>
            <a:ext cx="2309831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Edge cases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531357" y="3481239"/>
            <a:ext cx="13716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What could fail?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05506" y="2713286"/>
            <a:ext cx="2552719" cy="1271588"/>
          </a:xfrm>
          <a:prstGeom prst="rect">
            <a:avLst/>
          </a:prstGeom>
          <a:solidFill>
            <a:srgbClr val="FFFFFF">
              <a:alpha val="32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26950" y="2841873"/>
            <a:ext cx="2309831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5252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04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6226950" y="3209776"/>
            <a:ext cx="2309831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226950" y="3481239"/>
            <a:ext cx="180022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How carefully must we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26950" y="3666976"/>
            <a:ext cx="42862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test?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85775" y="4768453"/>
            <a:ext cx="4357018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spc="1" kern="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Reasoning effort is a task decision—not a quality button.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328613"/>
            <a:ext cx="817245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02 / THE FRAMEWORK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485775" y="603647"/>
            <a:ext cx="817245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85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Three levels. One question.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485775" y="1105384"/>
            <a:ext cx="5643563" cy="1799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Choose the lowest reasoning level that can reliably solve the task.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85775" y="1642560"/>
            <a:ext cx="2619356" cy="2137265"/>
          </a:xfrm>
          <a:prstGeom prst="rect">
            <a:avLst/>
          </a:prstGeom>
          <a:solidFill>
            <a:srgbClr val="FF5252">
              <a:alpha val="15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8650" y="1785435"/>
            <a:ext cx="2333606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01 · SPEED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28650" y="2110476"/>
            <a:ext cx="2333606" cy="432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Light</a:t>
            </a:r>
            <a:endParaRPr lang="en-US" sz="2350" dirty="0"/>
          </a:p>
        </p:txBody>
      </p:sp>
      <p:sp>
        <p:nvSpPr>
          <p:cNvPr id="9" name="Text 6"/>
          <p:cNvSpPr/>
          <p:nvPr/>
        </p:nvSpPr>
        <p:spPr>
          <a:xfrm>
            <a:off x="628650" y="2628398"/>
            <a:ext cx="233360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Clear, local, reversible.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28650" y="3135604"/>
            <a:ext cx="2333606" cy="331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Simple helpers, boilerplate, documentation, and routine fixes.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62294" y="1528260"/>
            <a:ext cx="2619356" cy="2137265"/>
          </a:xfrm>
          <a:prstGeom prst="rect">
            <a:avLst/>
          </a:prstGeom>
          <a:solidFill>
            <a:srgbClr val="00695C">
              <a:alpha val="1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05169" y="1671135"/>
            <a:ext cx="2333606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02 · CONTEXT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3405169" y="1996176"/>
            <a:ext cx="2333606" cy="432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Medium</a:t>
            </a:r>
            <a:endParaRPr lang="en-US" sz="2350" dirty="0"/>
          </a:p>
        </p:txBody>
      </p:sp>
      <p:sp>
        <p:nvSpPr>
          <p:cNvPr id="14" name="Text 11"/>
          <p:cNvSpPr/>
          <p:nvPr/>
        </p:nvSpPr>
        <p:spPr>
          <a:xfrm>
            <a:off x="3405169" y="2514098"/>
            <a:ext cx="233360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Everyday development.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405169" y="3021304"/>
            <a:ext cx="2333606" cy="331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Normal features, related files, project conventions, and tests.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038813" y="1485398"/>
            <a:ext cx="2619356" cy="2137265"/>
          </a:xfrm>
          <a:prstGeom prst="rect">
            <a:avLst/>
          </a:prstGeom>
          <a:solidFill>
            <a:srgbClr val="004D40">
              <a:alpha val="12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81688" y="1628273"/>
            <a:ext cx="2333606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03 · RISK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181688" y="1953313"/>
            <a:ext cx="2333606" cy="432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Deep</a:t>
            </a:r>
            <a:endParaRPr lang="en-US" sz="2350" dirty="0"/>
          </a:p>
        </p:txBody>
      </p:sp>
      <p:sp>
        <p:nvSpPr>
          <p:cNvPr id="19" name="Text 16"/>
          <p:cNvSpPr/>
          <p:nvPr/>
        </p:nvSpPr>
        <p:spPr>
          <a:xfrm>
            <a:off x="6181688" y="2471235"/>
            <a:ext cx="2333606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Ambiguous, complex, high-risk.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181688" y="2982683"/>
            <a:ext cx="2333606" cy="497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Difficult bugs, architecture, refactors, security, and migration.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85775" y="3822688"/>
            <a:ext cx="8172450" cy="239316"/>
          </a:xfrm>
          <a:prstGeom prst="rect">
            <a:avLst/>
          </a:prstGeom>
          <a:noFill/>
          <a:ln/>
        </p:spPr>
        <p:txBody>
          <a:bodyPr wrap="square" lIns="0" tIns="93599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Same framework:</a:t>
            </a:r>
            <a:r>
              <a:rPr lang="en-US" sz="85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Claude Code and Codex. Product labels may differ by interface.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00000">
            <a:off x="6036469" y="214313"/>
            <a:ext cx="2786063" cy="1143000"/>
          </a:xfrm>
          <a:prstGeom prst="rect">
            <a:avLst/>
          </a:prstGeom>
          <a:solidFill>
            <a:srgbClr val="FF5252">
              <a:alpha val="14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85775" y="314325"/>
            <a:ext cx="8172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03 / SAME TASK, TWO TOOLS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85775" y="575072"/>
            <a:ext cx="8172450" cy="817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80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Claude Code and Codex: same reasoning question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85775" y="1463687"/>
            <a:ext cx="81724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Choose the effort from the task—not from the tool’s brand.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85775" y="1835162"/>
            <a:ext cx="8172450" cy="750094"/>
          </a:xfrm>
          <a:prstGeom prst="rect">
            <a:avLst/>
          </a:prstGeom>
          <a:solidFill>
            <a:srgbClr val="FF5252">
              <a:alpha val="17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4363" y="2054833"/>
            <a:ext cx="1758925" cy="317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Light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3288" y="2019951"/>
            <a:ext cx="1758925" cy="3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Claude Code: Light</a:t>
            </a: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
</a:t>
            </a: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Codex: Light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132213" y="2117341"/>
            <a:ext cx="43974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Simple helpers · boilerplate · docs · routine fixes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5775" y="2670981"/>
            <a:ext cx="8172450" cy="750094"/>
          </a:xfrm>
          <a:prstGeom prst="rect">
            <a:avLst/>
          </a:prstGeom>
          <a:solidFill>
            <a:srgbClr val="00695C">
              <a:alpha val="1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4363" y="2890651"/>
            <a:ext cx="1758925" cy="317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Medium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3288" y="2855770"/>
            <a:ext cx="1758925" cy="3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Claude Code: Medium</a:t>
            </a: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
</a:t>
            </a: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Codex: Medium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132213" y="2856719"/>
            <a:ext cx="439742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Normal features · related files · tests · integration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85775" y="3506800"/>
            <a:ext cx="8172450" cy="750094"/>
          </a:xfrm>
          <a:prstGeom prst="rect">
            <a:avLst/>
          </a:prstGeom>
          <a:solidFill>
            <a:srgbClr val="004D40">
              <a:alpha val="13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4363" y="3726470"/>
            <a:ext cx="1758925" cy="317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Deep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3288" y="3691589"/>
            <a:ext cx="1758925" cy="3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Claude Code: Deep</a:t>
            </a: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
</a:t>
            </a:r>
            <a:r>
              <a:rPr lang="en-US" sz="115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Codex: Deep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132213" y="3692537"/>
            <a:ext cx="439742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Difficult bugs · refactors · architecture · security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85775" y="4414056"/>
            <a:ext cx="8172450" cy="392906"/>
          </a:xfrm>
          <a:prstGeom prst="rect">
            <a:avLst/>
          </a:prstGeom>
          <a:solidFill>
            <a:srgbClr val="FFFFFF">
              <a:alpha val="24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5775" y="4414056"/>
            <a:ext cx="8172450" cy="392906"/>
          </a:xfrm>
          <a:prstGeom prst="rect">
            <a:avLst/>
          </a:prstGeom>
          <a:noFill/>
          <a:ln/>
        </p:spPr>
        <p:txBody>
          <a:bodyPr wrap="square" lIns="153035" tIns="119126" rIns="153035" bIns="102108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Takeaway:</a:t>
            </a:r>
            <a:r>
              <a:rPr lang="en-US" sz="105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the same task generally deserves the same reasoning level in both tools.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20000">
            <a:off x="6286500" y="1285875"/>
            <a:ext cx="2571750" cy="1357313"/>
          </a:xfrm>
          <a:prstGeom prst="rect">
            <a:avLst/>
          </a:prstGeom>
          <a:solidFill>
            <a:srgbClr val="FF5252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85775" y="328613"/>
            <a:ext cx="817245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04 / AUDIENCE SCENARIO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85775" y="596503"/>
            <a:ext cx="817245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85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Easy task: how much thinking?</a:t>
            </a:r>
            <a:endParaRPr lang="en-US" sz="2850" dirty="0"/>
          </a:p>
        </p:txBody>
      </p:sp>
      <p:sp>
        <p:nvSpPr>
          <p:cNvPr id="6" name="Shape 3"/>
          <p:cNvSpPr/>
          <p:nvPr/>
        </p:nvSpPr>
        <p:spPr>
          <a:xfrm>
            <a:off x="485775" y="1241115"/>
            <a:ext cx="5286375" cy="1528763"/>
          </a:xfrm>
          <a:prstGeom prst="rect">
            <a:avLst/>
          </a:prstGeom>
          <a:solidFill>
            <a:srgbClr val="FFFFFF">
              <a:alpha val="28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2938" y="1383990"/>
            <a:ext cx="497205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SCENARIO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42938" y="1651881"/>
            <a:ext cx="4643438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“Add a helper that formats a date as </a:t>
            </a:r>
            <a:r>
              <a:rPr lang="en-US" sz="16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YYYY-MM-DD</a:t>
            </a:r>
            <a:r>
              <a:rPr lang="en-US" sz="175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and write a unit test.”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6015038" y="1255402"/>
            <a:ext cx="2643188" cy="2381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What would you choose?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015038" y="1565039"/>
            <a:ext cx="2643188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Claude Code? Codex?</a:t>
            </a:r>
            <a:r>
              <a:rPr lang="en-US" sz="9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
</a:t>
            </a:r>
            <a:r>
              <a:rPr lang="en-US" sz="9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Light, Medium, or Deep?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15038" y="2059298"/>
            <a:ext cx="539353" cy="346472"/>
          </a:xfrm>
          <a:prstGeom prst="rect">
            <a:avLst/>
          </a:prstGeom>
          <a:solidFill>
            <a:srgbClr val="FFFFFF">
              <a:alpha val="2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15038" y="2059298"/>
            <a:ext cx="539353" cy="346472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Light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97253" y="2059298"/>
            <a:ext cx="760809" cy="346472"/>
          </a:xfrm>
          <a:prstGeom prst="rect">
            <a:avLst/>
          </a:prstGeom>
          <a:solidFill>
            <a:srgbClr val="FFFFFF">
              <a:alpha val="2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97253" y="2059298"/>
            <a:ext cx="760809" cy="346472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Medium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400925" y="2059298"/>
            <a:ext cx="514350" cy="346472"/>
          </a:xfrm>
          <a:prstGeom prst="rect">
            <a:avLst/>
          </a:prstGeom>
          <a:solidFill>
            <a:srgbClr val="FF5252">
              <a:alpha val="18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00925" y="2059298"/>
            <a:ext cx="514350" cy="346472"/>
          </a:xfrm>
          <a:prstGeom prst="rect">
            <a:avLst/>
          </a:prstGeom>
          <a:noFill/>
          <a:ln/>
        </p:spPr>
        <p:txBody>
          <a:bodyPr wrap="none" lIns="102108" tIns="85090" rIns="102108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Deep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85775" y="3134209"/>
            <a:ext cx="2652675" cy="558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FF525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Reveal:</a:t>
            </a:r>
            <a:r>
              <a:rPr lang="en-US" sz="180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
</a:t>
            </a:r>
            <a:r>
              <a:rPr lang="en-US" sz="180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Light / Light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352763" y="3134209"/>
            <a:ext cx="5000625" cy="558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task is deterministic, local, reversible, and easy to verify. Deep reasoning adds time without much benefit.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85775" y="4818459"/>
            <a:ext cx="1708807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spc="1" kern="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Vote first. Reveal second.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5775" y="328613"/>
            <a:ext cx="817245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05 / AUDIENCE SCENARIO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485775" y="603647"/>
            <a:ext cx="8172450" cy="4160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85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Normal feature: how much thinking?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485775" y="1405421"/>
            <a:ext cx="5286375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THE REQUEST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485775" y="1666168"/>
            <a:ext cx="5000625" cy="830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“Add CSV upload to an existing application. Validate rows, show errors, store valid records, and add tests.”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485775" y="2589498"/>
            <a:ext cx="5286375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This touches validation, persistence, UI, and verification.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015038" y="1262546"/>
            <a:ext cx="2643188" cy="1882601"/>
          </a:xfrm>
          <a:prstGeom prst="rect">
            <a:avLst/>
          </a:prstGeom>
          <a:solidFill>
            <a:srgbClr val="FFFFFF">
              <a:alpha val="26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2194" y="1369702"/>
            <a:ext cx="2428875" cy="2381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5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Your vote?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122194" y="1665052"/>
            <a:ext cx="2428875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Choose a level for Claude Code and Codex.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122194" y="2080729"/>
            <a:ext cx="2428875" cy="285750"/>
          </a:xfrm>
          <a:prstGeom prst="rect">
            <a:avLst/>
          </a:prstGeom>
          <a:solidFill>
            <a:srgbClr val="E0F2F1">
              <a:alpha val="6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22194" y="2080729"/>
            <a:ext cx="2428875" cy="285750"/>
          </a:xfrm>
          <a:prstGeom prst="rect">
            <a:avLst/>
          </a:prstGeom>
          <a:noFill/>
          <a:ln/>
        </p:spPr>
        <p:txBody>
          <a:bodyPr wrap="square" lIns="85090" tIns="68072" rIns="85090" bIns="59563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○ Light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122194" y="2402198"/>
            <a:ext cx="2428875" cy="285750"/>
          </a:xfrm>
          <a:prstGeom prst="rect">
            <a:avLst/>
          </a:prstGeom>
          <a:solidFill>
            <a:srgbClr val="E0F2F1">
              <a:alpha val="6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22194" y="2402198"/>
            <a:ext cx="2428875" cy="285750"/>
          </a:xfrm>
          <a:prstGeom prst="rect">
            <a:avLst/>
          </a:prstGeom>
          <a:noFill/>
          <a:ln/>
        </p:spPr>
        <p:txBody>
          <a:bodyPr wrap="square" lIns="85090" tIns="68072" rIns="85090" bIns="59563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○ Medium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22194" y="2723666"/>
            <a:ext cx="2428875" cy="285750"/>
          </a:xfrm>
          <a:prstGeom prst="rect">
            <a:avLst/>
          </a:prstGeom>
          <a:solidFill>
            <a:srgbClr val="E0F2F1">
              <a:alpha val="6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22194" y="2723666"/>
            <a:ext cx="2428875" cy="285750"/>
          </a:xfrm>
          <a:prstGeom prst="rect">
            <a:avLst/>
          </a:prstGeom>
          <a:noFill/>
          <a:ln/>
        </p:spPr>
        <p:txBody>
          <a:bodyPr wrap="square" lIns="85090" tIns="68072" rIns="85090" bIns="59563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○ Deep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85775" y="3309454"/>
            <a:ext cx="8172450" cy="739378"/>
          </a:xfrm>
          <a:prstGeom prst="rect">
            <a:avLst/>
          </a:prstGeom>
          <a:solidFill>
            <a:srgbClr val="FF5252">
              <a:alpha val="16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4363" y="3423754"/>
            <a:ext cx="2571750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REVEAL · CLAUDE CODE / CODEX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14363" y="3605919"/>
            <a:ext cx="2571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Medium / Medium</a:t>
            </a:r>
            <a:endParaRPr lang="en-US" sz="1750" dirty="0"/>
          </a:p>
        </p:txBody>
      </p:sp>
      <p:sp>
        <p:nvSpPr>
          <p:cNvPr id="20" name="Text 17"/>
          <p:cNvSpPr/>
          <p:nvPr/>
        </p:nvSpPr>
        <p:spPr>
          <a:xfrm>
            <a:off x="3386138" y="3569419"/>
            <a:ext cx="5143500" cy="36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3600"/>
              </a:lnSpc>
              <a:buNone/>
            </a:pPr>
            <a:r>
              <a:rPr lang="en-US" sz="9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Why:</a:t>
            </a:r>
            <a:r>
              <a:rPr lang="en-US" sz="95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the agent must inspect the repository, coordinate several </a:t>
            </a:r>
            <a:r>
              <a:rPr lang="en-US" sz="950" dirty="0">
                <a:solidFill>
                  <a:srgbClr val="004D4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files, and run tests—but the requirements are clear.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85775" y="4818459"/>
            <a:ext cx="2497466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spc="1" kern="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Enough thinking to integrate reliably.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 rot="420000">
            <a:off x="6015038" y="942975"/>
            <a:ext cx="2786063" cy="1214438"/>
          </a:xfrm>
          <a:prstGeom prst="rect">
            <a:avLst/>
          </a:prstGeom>
          <a:solidFill>
            <a:srgbClr val="00695C">
              <a:alpha val="10000"/>
            </a:srgbClr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20000">
            <a:off x="5822156" y="485775"/>
            <a:ext cx="2928938" cy="1500188"/>
          </a:xfrm>
          <a:prstGeom prst="rect">
            <a:avLst/>
          </a:prstGeom>
          <a:solidFill>
            <a:srgbClr val="FF5252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85775" y="328613"/>
            <a:ext cx="817245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06 / AUDIENCE SCENARIO · DIFFICULT BUG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85775" y="603647"/>
            <a:ext cx="8172450" cy="4234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90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Now the cost of being wrong is high.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485775" y="1391413"/>
            <a:ext cx="5267288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THE SCENARIO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485775" y="1630728"/>
            <a:ext cx="4929188" cy="623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4400"/>
              </a:lnSpc>
              <a:buNone/>
            </a:pPr>
            <a:r>
              <a:rPr lang="en-US" sz="185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“Users are randomly logged out after refreshing the page.”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485775" y="2361623"/>
            <a:ext cx="4929188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It happens in production, but not locally. Find the root cause and add a regression test.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5775" y="2925980"/>
            <a:ext cx="5267288" cy="537679"/>
          </a:xfrm>
          <a:prstGeom prst="rect">
            <a:avLst/>
          </a:prstGeom>
          <a:solidFill>
            <a:srgbClr val="FFFFFF">
              <a:alpha val="26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5775" y="2925980"/>
            <a:ext cx="5267288" cy="537679"/>
          </a:xfrm>
          <a:prstGeom prst="rect">
            <a:avLst/>
          </a:prstGeom>
          <a:noFill/>
          <a:ln/>
        </p:spPr>
        <p:txBody>
          <a:bodyPr wrap="square" lIns="127508" tIns="110617" rIns="127508" bIns="102108" rtlCol="0" anchor="t">
            <a:spAutoFit/>
          </a:bodyPr>
          <a:lstStyle/>
          <a:p>
            <a:pPr algn="l" indent="0" marL="0">
              <a:lnSpc>
                <a:spcPct val="113600"/>
              </a:lnSpc>
              <a:buNone/>
            </a:pPr>
            <a:r>
              <a:rPr lang="en-US" sz="850" b="1" dirty="0">
                <a:solidFill>
                  <a:srgbClr val="004D40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Possible surfaces:</a:t>
            </a: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cookies · tokens · session state · timing · </a:t>
            </a: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deployment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024525" y="1248538"/>
            <a:ext cx="2633644" cy="1678391"/>
          </a:xfrm>
          <a:prstGeom prst="rect">
            <a:avLst/>
          </a:prstGeom>
          <a:solidFill>
            <a:srgbClr val="FFFFFF">
              <a:alpha val="34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38825" y="1362838"/>
            <a:ext cx="2405044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AUDIENCE VOTE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6138825" y="1616441"/>
            <a:ext cx="2405044" cy="763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5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Light?</a:t>
            </a:r>
            <a:r>
              <a:rPr lang="en-US" sz="15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
</a:t>
            </a:r>
            <a:r>
              <a:rPr lang="en-US" sz="15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Medium?</a:t>
            </a:r>
            <a:r>
              <a:rPr lang="en-US" sz="15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
</a:t>
            </a:r>
            <a:r>
              <a:rPr lang="en-US" sz="15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Deep?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6138825" y="2509019"/>
            <a:ext cx="768344" cy="296466"/>
          </a:xfrm>
          <a:prstGeom prst="rect">
            <a:avLst/>
          </a:prstGeom>
          <a:noFill/>
          <a:ln/>
        </p:spPr>
        <p:txBody>
          <a:bodyPr wrap="none" lIns="42545" tIns="76581" rIns="42545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LIGHT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957175" y="2509019"/>
            <a:ext cx="768344" cy="296466"/>
          </a:xfrm>
          <a:prstGeom prst="rect">
            <a:avLst/>
          </a:prstGeom>
          <a:noFill/>
          <a:ln/>
        </p:spPr>
        <p:txBody>
          <a:bodyPr wrap="none" lIns="42545" tIns="76581" rIns="42545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MEDIUM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7775525" y="2509019"/>
            <a:ext cx="768344" cy="296466"/>
          </a:xfrm>
          <a:prstGeom prst="rect">
            <a:avLst/>
          </a:prstGeom>
          <a:noFill/>
          <a:ln/>
        </p:spPr>
        <p:txBody>
          <a:bodyPr wrap="none" lIns="42545" tIns="76581" rIns="42545" bIns="68072" rtlCol="0" anchor="t">
            <a:sp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DEEP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5775" y="3649396"/>
            <a:ext cx="8172450" cy="747136"/>
          </a:xfrm>
          <a:prstGeom prst="rect">
            <a:avLst/>
          </a:prstGeom>
          <a:solidFill>
            <a:srgbClr val="FF5252">
              <a:alpha val="19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4363" y="3767547"/>
            <a:ext cx="2571750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REVEAL · CLAUDE CODE / CODEX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14363" y="3942569"/>
            <a:ext cx="2571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DEEP / DEEP</a:t>
            </a:r>
            <a:endParaRPr lang="en-US" sz="1750" dirty="0"/>
          </a:p>
        </p:txBody>
      </p:sp>
      <p:sp>
        <p:nvSpPr>
          <p:cNvPr id="20" name="Text 17"/>
          <p:cNvSpPr/>
          <p:nvPr/>
        </p:nvSpPr>
        <p:spPr>
          <a:xfrm>
            <a:off x="3386138" y="3749408"/>
            <a:ext cx="5143500" cy="539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The symptom is ambiguous and cross-cutting. Deep reasoning gives the agent room to form hypotheses, inspect evidence, reproduce the failure, and verify the fix.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85775" y="4818459"/>
            <a:ext cx="4929188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spc="1" kern="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Deep reasoning is justified when investigation is more valuable than speed.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 rot="-180000">
            <a:off x="1714500" y="4086225"/>
            <a:ext cx="3714750" cy="928688"/>
          </a:xfrm>
          <a:prstGeom prst="rect">
            <a:avLst/>
          </a:prstGeom>
          <a:solidFill>
            <a:srgbClr val="004D40">
              <a:alpha val="11000"/>
            </a:srgbClr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20000">
            <a:off x="6529388" y="628650"/>
            <a:ext cx="2143125" cy="1357313"/>
          </a:xfrm>
          <a:prstGeom prst="rect">
            <a:avLst/>
          </a:prstGeom>
          <a:solidFill>
            <a:srgbClr val="FF5252">
              <a:alpha val="1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85775" y="342900"/>
            <a:ext cx="817245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07 / THE TRAP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85775" y="617934"/>
            <a:ext cx="8172450" cy="817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80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Deep reasoning cannot fix an unclear prompt.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485775" y="1692287"/>
            <a:ext cx="3936206" cy="1714500"/>
          </a:xfrm>
          <a:prstGeom prst="rect">
            <a:avLst/>
          </a:prstGeom>
          <a:solidFill>
            <a:srgbClr val="FF5252">
              <a:alpha val="16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7225" y="1849450"/>
            <a:ext cx="3593306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AUDIENCE SCENARIO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57225" y="2272773"/>
            <a:ext cx="3593306" cy="4013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4800"/>
              </a:lnSpc>
              <a:buNone/>
            </a:pPr>
            <a:r>
              <a:rPr lang="en-US" sz="270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“Fix the login bug.”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657225" y="2958126"/>
            <a:ext cx="3593306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Ask the room: Which reasoning level would you choose?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722019" y="1813731"/>
            <a:ext cx="3936206" cy="282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First, ask for the missing pieces.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722019" y="2210209"/>
            <a:ext cx="1896666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REPRODUCE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722019" y="2406662"/>
            <a:ext cx="157162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What steps trigger it?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761559" y="2210209"/>
            <a:ext cx="1896666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EXPECTED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761559" y="2406662"/>
            <a:ext cx="12858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What should happen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761559" y="2570578"/>
            <a:ext cx="571500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instead?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722019" y="2913087"/>
            <a:ext cx="1896666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ENVIRONMENT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722019" y="3109540"/>
            <a:ext cx="1500188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Where does it happen?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761559" y="2913087"/>
            <a:ext cx="1896666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EVIDENCE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761559" y="3109540"/>
            <a:ext cx="18573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What logs or errors exist?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85775" y="3663962"/>
            <a:ext cx="8172450" cy="440903"/>
          </a:xfrm>
          <a:prstGeom prst="rect">
            <a:avLst/>
          </a:prstGeom>
          <a:solidFill>
            <a:srgbClr val="FFFFFF">
              <a:alpha val="25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5775" y="3663962"/>
            <a:ext cx="8172450" cy="440903"/>
          </a:xfrm>
          <a:prstGeom prst="rect">
            <a:avLst/>
          </a:prstGeom>
          <a:noFill/>
          <a:ln/>
        </p:spPr>
        <p:txBody>
          <a:bodyPr wrap="square" lIns="170053" tIns="127508" rIns="170053" bIns="110617" rtlCol="0" anchor="t">
            <a:spAutoFit/>
          </a:bodyPr>
          <a:lstStyle/>
          <a:p>
            <a:pPr algn="l" indent="0" marL="0">
              <a:lnSpc>
                <a:spcPct val="97600"/>
              </a:lnSpc>
              <a:buNone/>
            </a:pPr>
            <a:r>
              <a:rPr lang="en-US" sz="130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Correct first move:</a:t>
            </a:r>
            <a:r>
              <a:rPr lang="en-US" sz="140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clarify the task before escalating reasoning.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85775" y="4789884"/>
            <a:ext cx="3680482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spc="1" kern="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 better prompt makes every reasoning level more useful.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721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00000">
            <a:off x="6329363" y="242888"/>
            <a:ext cx="2500313" cy="1071563"/>
          </a:xfrm>
          <a:prstGeom prst="rect">
            <a:avLst/>
          </a:prstGeom>
          <a:solidFill>
            <a:srgbClr val="FF5252">
              <a:alpha val="14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85775" y="242888"/>
            <a:ext cx="8172450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08 / PRACTICAL SYNTHESIS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85775" y="517922"/>
            <a:ext cx="8172450" cy="4085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3200"/>
              </a:lnSpc>
              <a:buNone/>
            </a:pPr>
            <a:r>
              <a:rPr lang="en-US" sz="2800" b="1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A decision tree you can use tomorrow.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85775" y="997948"/>
            <a:ext cx="8172450" cy="1735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Same logic for Claude Code and Codex. Start with the task, then choose the effort.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85775" y="1300107"/>
            <a:ext cx="1283531" cy="1368921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485775" y="1300107"/>
            <a:ext cx="1283531" cy="28575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9" name="Text 6"/>
          <p:cNvSpPr/>
          <p:nvPr/>
        </p:nvSpPr>
        <p:spPr>
          <a:xfrm>
            <a:off x="528638" y="1342969"/>
            <a:ext cx="1197806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01 · CLARITY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528638" y="1553710"/>
            <a:ext cx="1197806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0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Clear and local?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28638" y="1980549"/>
            <a:ext cx="1197806" cy="462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One file. Predictable. Easy to verify.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812168" y="1300107"/>
            <a:ext cx="1283587" cy="1368921"/>
          </a:xfrm>
          <a:prstGeom prst="rect">
            <a:avLst/>
          </a:prstGeom>
          <a:solidFill>
            <a:srgbClr val="00695C">
              <a:alpha val="8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1812168" y="1300107"/>
            <a:ext cx="1283587" cy="28575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4" name="Text 11"/>
          <p:cNvSpPr/>
          <p:nvPr/>
        </p:nvSpPr>
        <p:spPr>
          <a:xfrm>
            <a:off x="1855031" y="1342969"/>
            <a:ext cx="1197862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02 · SCOPE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855031" y="1553710"/>
            <a:ext cx="1197862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0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Normal feature?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855031" y="1980549"/>
            <a:ext cx="1197862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Known requirements. Several files. Tests.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138618" y="1300107"/>
            <a:ext cx="1283587" cy="1368921"/>
          </a:xfrm>
          <a:prstGeom prst="rect">
            <a:avLst/>
          </a:prstGeom>
          <a:solidFill>
            <a:srgbClr val="FF5252">
              <a:alpha val="13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3138618" y="1300107"/>
            <a:ext cx="1283587" cy="28575"/>
          </a:xfrm>
          <a:prstGeom prst="rect">
            <a:avLst/>
          </a:prstGeom>
          <a:solidFill>
            <a:srgbClr val="FF5252"/>
          </a:solidFill>
          <a:ln/>
        </p:spPr>
      </p:sp>
      <p:sp>
        <p:nvSpPr>
          <p:cNvPr id="19" name="Text 16"/>
          <p:cNvSpPr/>
          <p:nvPr/>
        </p:nvSpPr>
        <p:spPr>
          <a:xfrm>
            <a:off x="3181480" y="1342969"/>
            <a:ext cx="1197862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03 · RISK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3181480" y="1553710"/>
            <a:ext cx="1197862" cy="383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0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Ambiguous or high-risk?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181480" y="1980549"/>
            <a:ext cx="1197862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Hidden causes. Production impact. High cost of error.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465067" y="1300107"/>
            <a:ext cx="1283531" cy="134034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4465067" y="1300107"/>
            <a:ext cx="1283531" cy="28575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4" name="Text 21"/>
          <p:cNvSpPr/>
          <p:nvPr/>
        </p:nvSpPr>
        <p:spPr>
          <a:xfrm>
            <a:off x="4507929" y="1342969"/>
            <a:ext cx="1197806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04 · ESCALATE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4507929" y="1553710"/>
            <a:ext cx="1197806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9600"/>
              </a:lnSpc>
              <a:buNone/>
            </a:pPr>
            <a:r>
              <a:rPr lang="en-US" sz="120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Start lower.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07929" y="1788561"/>
            <a:ext cx="1197806" cy="462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Raise the level if the first attempt fails.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3060092" y="1950188"/>
            <a:ext cx="214313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5252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756970" y="1950188"/>
            <a:ext cx="214313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5252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791460" y="1300107"/>
            <a:ext cx="2866765" cy="1340346"/>
          </a:xfrm>
          <a:prstGeom prst="rect">
            <a:avLst/>
          </a:prstGeom>
          <a:solidFill>
            <a:srgbClr val="FF5252">
              <a:alpha val="18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848610" y="1357257"/>
            <a:ext cx="2752465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Light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5848610" y="1675154"/>
            <a:ext cx="2752465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Speed first.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848610" y="1857319"/>
            <a:ext cx="2752465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Claude Code: Light</a:t>
            </a: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
</a:t>
            </a: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Codex: Light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5791460" y="2683315"/>
            <a:ext cx="2866765" cy="935831"/>
          </a:xfrm>
          <a:prstGeom prst="rect">
            <a:avLst/>
          </a:prstGeom>
          <a:solidFill>
            <a:srgbClr val="00695C">
              <a:alpha val="11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48610" y="2740465"/>
            <a:ext cx="2752465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Medium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5848610" y="3058362"/>
            <a:ext cx="2752465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Everyday coordination.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5848610" y="3240528"/>
            <a:ext cx="2752465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Claude Code: Medium</a:t>
            </a: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
</a:t>
            </a: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Codex: Medium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5791460" y="3647722"/>
            <a:ext cx="2866765" cy="935831"/>
          </a:xfrm>
          <a:prstGeom prst="rect">
            <a:avLst/>
          </a:prstGeom>
          <a:solidFill>
            <a:srgbClr val="004D40">
              <a:alpha val="14000"/>
            </a:srgbClr>
          </a:solidFill>
          <a:ln w="9144">
            <a:solidFill>
              <a:srgbClr val="004D4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848610" y="3704872"/>
            <a:ext cx="2752465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Deep</a:t>
            </a:r>
            <a:endParaRPr lang="en-US" sz="1450" dirty="0"/>
          </a:p>
        </p:txBody>
      </p:sp>
      <p:sp>
        <p:nvSpPr>
          <p:cNvPr id="39" name="Text 36"/>
          <p:cNvSpPr/>
          <p:nvPr/>
        </p:nvSpPr>
        <p:spPr>
          <a:xfrm>
            <a:off x="5848610" y="4022768"/>
            <a:ext cx="2752465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Investigate and verify.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848610" y="4204934"/>
            <a:ext cx="2752465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Claude Code: Deep</a:t>
            </a: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
</a:t>
            </a:r>
            <a:r>
              <a:rPr lang="en-US" sz="800" b="1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Codex: Deep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485775" y="4697853"/>
            <a:ext cx="8172450" cy="617153"/>
          </a:xfrm>
          <a:prstGeom prst="rect">
            <a:avLst/>
          </a:prstGeom>
          <a:solidFill>
            <a:srgbClr val="FFFFFF">
              <a:alpha val="22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85775" y="4697853"/>
            <a:ext cx="8172450" cy="617153"/>
          </a:xfrm>
          <a:prstGeom prst="rect">
            <a:avLst/>
          </a:prstGeom>
          <a:noFill/>
          <a:ln/>
        </p:spPr>
        <p:txBody>
          <a:bodyPr wrap="square" lIns="119126" tIns="102108" rIns="119126" bIns="8509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5252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Rule of thumb:</a:t>
            </a:r>
            <a:r>
              <a:rPr lang="en-US" sz="140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use the lowest level that can reliably solve the task. Clarify before </a:t>
            </a:r>
            <a:r>
              <a:rPr lang="en-US" sz="140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escalating.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420000">
            <a:off x="1785937" y="3214688"/>
            <a:ext cx="3429000" cy="1500188"/>
          </a:xfrm>
          <a:prstGeom prst="rect">
            <a:avLst/>
          </a:prstGeom>
          <a:solidFill>
            <a:srgbClr val="FF5252">
              <a:alpha val="14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85775" y="371475"/>
            <a:ext cx="5395875" cy="4002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08 / CLOSING THOUGHT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85775" y="900336"/>
            <a:ext cx="5395875" cy="7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2400"/>
              </a:lnSpc>
              <a:buNone/>
            </a:pPr>
            <a:r>
              <a:rPr lang="en-US" sz="3100" b="1" spc="-1" kern="0" dirty="0">
                <a:solidFill>
                  <a:srgbClr val="004D40"/>
                </a:solidFill>
                <a:latin typeface="Roboto Slab Black" pitchFamily="34" charset="0"/>
                <a:ea typeface="Roboto Slab Black" pitchFamily="34" charset="-122"/>
                <a:cs typeface="Roboto Slab Black" pitchFamily="34" charset="-120"/>
              </a:rPr>
              <a:t>Think just enough.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485775" y="1838511"/>
            <a:ext cx="5000625" cy="1220744"/>
          </a:xfrm>
          <a:prstGeom prst="rect">
            <a:avLst/>
          </a:prstGeom>
          <a:noFill/>
          <a:ln/>
        </p:spPr>
        <p:txBody>
          <a:bodyPr wrap="square" lIns="0" tIns="153035" rIns="0" bIns="0" rtlCol="0" anchor="t">
            <a:spAutoFit/>
          </a:bodyPr>
          <a:lstStyle/>
          <a:p>
            <a:pPr algn="l" indent="0" marL="0">
              <a:lnSpc>
                <a:spcPct val="102400"/>
              </a:lnSpc>
              <a:buNone/>
            </a:pPr>
            <a:r>
              <a:rPr lang="en-US" sz="155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“Use Light for speed, Medium for everyday development, and Deep when the cost of being wrong is higher than the cost of waiting.”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281700" y="1014636"/>
            <a:ext cx="2376469" cy="617934"/>
          </a:xfrm>
          <a:prstGeom prst="rect">
            <a:avLst/>
          </a:prstGeom>
          <a:solidFill>
            <a:srgbClr val="FF5252">
              <a:alpha val="16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88857" y="1110351"/>
            <a:ext cx="2162156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LIGHT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388857" y="1413960"/>
            <a:ext cx="130016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Clear · local · reversible</a:t>
            </a:r>
            <a:endParaRPr lang="en-US" sz="600" dirty="0"/>
          </a:p>
        </p:txBody>
      </p:sp>
      <p:sp>
        <p:nvSpPr>
          <p:cNvPr id="10" name="Shape 7"/>
          <p:cNvSpPr/>
          <p:nvPr/>
        </p:nvSpPr>
        <p:spPr>
          <a:xfrm>
            <a:off x="6160257" y="1735429"/>
            <a:ext cx="2497913" cy="617934"/>
          </a:xfrm>
          <a:prstGeom prst="rect">
            <a:avLst/>
          </a:prstGeom>
          <a:solidFill>
            <a:srgbClr val="00695C">
              <a:alpha val="10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7413" y="1831144"/>
            <a:ext cx="228360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MEDIUM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267413" y="2134753"/>
            <a:ext cx="150018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Context · coordination · tests</a:t>
            </a:r>
            <a:endParaRPr lang="en-US" sz="600" dirty="0"/>
          </a:p>
        </p:txBody>
      </p:sp>
      <p:sp>
        <p:nvSpPr>
          <p:cNvPr id="13" name="Shape 10"/>
          <p:cNvSpPr/>
          <p:nvPr/>
        </p:nvSpPr>
        <p:spPr>
          <a:xfrm>
            <a:off x="6038813" y="2456222"/>
            <a:ext cx="2619356" cy="617934"/>
          </a:xfrm>
          <a:prstGeom prst="rect">
            <a:avLst/>
          </a:prstGeom>
          <a:solidFill>
            <a:srgbClr val="004D40">
              <a:alpha val="12000"/>
            </a:srgbClr>
          </a:solidFill>
          <a:ln w="9144">
            <a:solidFill>
              <a:srgbClr val="0069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5969" y="2551937"/>
            <a:ext cx="2405044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4D40"/>
                </a:solidFill>
                <a:latin typeface="Roboto Slab Bold" pitchFamily="34" charset="0"/>
                <a:ea typeface="Roboto Slab Bold" pitchFamily="34" charset="-122"/>
                <a:cs typeface="Roboto Slab Bold" pitchFamily="34" charset="-120"/>
              </a:rPr>
              <a:t>DEEP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145969" y="2855547"/>
            <a:ext cx="1550194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0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Ambiguous · complex · high-risk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485775" y="4283794"/>
            <a:ext cx="2664563" cy="602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b="1" spc="1" kern="0" dirty="0">
                <a:solidFill>
                  <a:srgbClr val="FF5252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DISCUSSION PROMPT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3328932" y="4276651"/>
            <a:ext cx="4914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What is a task where you changed reasoning level after the first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328932" y="4482033"/>
            <a:ext cx="115371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4D4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attempt failed?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328932" y="4751710"/>
            <a:ext cx="5329238" cy="1346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50" dirty="0">
                <a:solidFill>
                  <a:srgbClr val="00695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Same task → Claude Code level vs. Codex level → compare the result.</a:t>
            </a:r>
            <a:endParaRPr lang="en-US" sz="650" dirty="0"/>
          </a:p>
        </p:txBody>
      </p:sp>
      <p:sp>
        <p:nvSpPr>
          <p:cNvPr id="20" name="Shape 17"/>
          <p:cNvSpPr/>
          <p:nvPr/>
        </p:nvSpPr>
        <p:spPr>
          <a:xfrm rot="480000">
            <a:off x="6572250" y="285750"/>
            <a:ext cx="2143125" cy="1214438"/>
          </a:xfrm>
          <a:prstGeom prst="rect">
            <a:avLst/>
          </a:prstGeom>
          <a:solidFill>
            <a:srgbClr val="004D40">
              <a:alpha val="10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2026-08-18T11:35:57Z</dcterms:created>
  <dcterms:modified xsi:type="dcterms:W3CDTF">2026-08-18T11:35:57Z</dcterms:modified>
</cp:coreProperties>
</file>