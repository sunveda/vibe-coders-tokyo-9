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165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420000">
            <a:off x="6400800" y="342900"/>
            <a:ext cx="2357438" cy="1500188"/>
          </a:xfrm>
          <a:prstGeom prst="rect">
            <a:avLst/>
          </a:prstGeom>
          <a:solidFill>
            <a:srgbClr val="004D40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85763"/>
            <a:ext cx="5395875" cy="182166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VIBE CODERS TOKYO #9 · MODELS, MODELS, MODELS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85775" y="982266"/>
            <a:ext cx="5395875" cy="1961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3400" b="1" spc="-2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If an AI coding agent can </a:t>
            </a:r>
            <a:r>
              <a:rPr lang="en-US" sz="3400" b="1" spc="-2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think harder,</a:t>
            </a:r>
            <a:r>
              <a:rPr lang="en-US" sz="3400" b="1" spc="-2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
</a:t>
            </a:r>
            <a:r>
              <a:rPr lang="en-US" sz="3400" b="1" spc="-2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should we always ask it </a:t>
            </a:r>
            <a:r>
              <a:rPr lang="en-US" sz="3400" b="1" spc="-2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to?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85775" y="3072036"/>
            <a:ext cx="40076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Choosing reasoning effort in </a:t>
            </a:r>
            <a:r>
              <a:rPr lang="en-US" sz="1000" b="1" dirty="0">
                <a:solidFill>
                  <a:srgbClr val="00695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 Code</a:t>
            </a: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and </a:t>
            </a:r>
            <a:r>
              <a:rPr lang="en-US" sz="1000" b="1" dirty="0">
                <a:solidFill>
                  <a:srgbClr val="00695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Codex</a:t>
            </a: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5775" y="3700686"/>
            <a:ext cx="4007644" cy="1668066"/>
          </a:xfrm>
          <a:prstGeom prst="rect">
            <a:avLst/>
          </a:prstGeom>
          <a:solidFill>
            <a:srgbClr val="E0F2F1">
              <a:alpha val="72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775" y="3700686"/>
            <a:ext cx="4007644" cy="1668066"/>
          </a:xfrm>
          <a:prstGeom prst="rect">
            <a:avLst/>
          </a:prstGeom>
          <a:noFill/>
          <a:ln/>
        </p:spPr>
        <p:txBody>
          <a:bodyPr wrap="square" lIns="119126" tIns="102108" rIns="119126" bIns="8509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Audience vote →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Light, Medium, or Deep?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 would you choose for your next coding task?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38813" y="3500661"/>
            <a:ext cx="2619412" cy="575072"/>
          </a:xfrm>
          <a:prstGeom prst="rect">
            <a:avLst/>
          </a:prstGeom>
          <a:solidFill>
            <a:srgbClr val="FFFFFF">
              <a:alpha val="25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4538" y="3572098"/>
            <a:ext cx="244796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4538" y="3875708"/>
            <a:ext cx="1428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Fast · clear · reversible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6195975" y="4132883"/>
            <a:ext cx="2462250" cy="575072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81700" y="4204320"/>
            <a:ext cx="22908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81700" y="4507929"/>
            <a:ext cx="1714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Context · coordination · tests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353138" y="4765104"/>
            <a:ext cx="2305087" cy="575072"/>
          </a:xfrm>
          <a:prstGeom prst="rect">
            <a:avLst/>
          </a:prstGeom>
          <a:solidFill>
            <a:srgbClr val="FF5252">
              <a:alpha val="20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8863" y="4836542"/>
            <a:ext cx="213363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38863" y="5140151"/>
            <a:ext cx="17716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Ambiguous · complex · high-risk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85775" y="5468764"/>
            <a:ext cx="8172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practical framework for choosing how much thinking a coding task deserves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 rot="480000">
            <a:off x="2000250" y="4268558"/>
            <a:ext cx="1857375" cy="1214438"/>
          </a:xfrm>
          <a:prstGeom prst="rect">
            <a:avLst/>
          </a:prstGeom>
          <a:solidFill>
            <a:srgbClr val="FF5252">
              <a:alpha val="1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60000">
            <a:off x="5686425" y="3614738"/>
            <a:ext cx="3071813" cy="1285875"/>
          </a:xfrm>
          <a:prstGeom prst="rect">
            <a:avLst/>
          </a:prstGeom>
          <a:solidFill>
            <a:srgbClr val="FF5252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42900"/>
            <a:ext cx="81724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/ THE IDEA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5775" y="617934"/>
            <a:ext cx="8172450" cy="430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9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What does “reasoning effort” mean?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485775" y="1498848"/>
            <a:ext cx="2624100" cy="951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much thinking does the task deserve?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5775" y="2607525"/>
            <a:ext cx="2624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More thinking is not automatically better.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09913" y="1334542"/>
            <a:ext cx="2552719" cy="1271588"/>
          </a:xfrm>
          <a:prstGeom prst="rect">
            <a:avLst/>
          </a:prstGeom>
          <a:solidFill>
            <a:srgbClr val="FFFFFF">
              <a:alpha val="2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1357" y="1463129"/>
            <a:ext cx="23098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531357" y="1831032"/>
            <a:ext cx="230983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31357" y="2102495"/>
            <a:ext cx="18002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much code must 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31357" y="2288232"/>
            <a:ext cx="9429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understand?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05506" y="1334542"/>
            <a:ext cx="2552719" cy="1271588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6950" y="1463129"/>
            <a:ext cx="23098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26950" y="1831032"/>
            <a:ext cx="230983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26950" y="2102495"/>
            <a:ext cx="19716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many approaches are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26950" y="2288232"/>
            <a:ext cx="8572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plausible?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09913" y="2713286"/>
            <a:ext cx="2552719" cy="1271588"/>
          </a:xfrm>
          <a:prstGeom prst="rect">
            <a:avLst/>
          </a:prstGeom>
          <a:solidFill>
            <a:srgbClr val="FF5252">
              <a:alpha val="14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31357" y="2841873"/>
            <a:ext cx="23098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3531357" y="3209776"/>
            <a:ext cx="230983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531357" y="3481239"/>
            <a:ext cx="13716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 could fail?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05506" y="2713286"/>
            <a:ext cx="2552719" cy="1271588"/>
          </a:xfrm>
          <a:prstGeom prst="rect">
            <a:avLst/>
          </a:prstGeom>
          <a:solidFill>
            <a:srgbClr val="FFFFFF">
              <a:alpha val="32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26950" y="2841873"/>
            <a:ext cx="23098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226950" y="3209776"/>
            <a:ext cx="230983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26950" y="3481239"/>
            <a:ext cx="18002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carefully must we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26950" y="3666976"/>
            <a:ext cx="4286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test?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5775" y="4768453"/>
            <a:ext cx="435701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Reasoning effort is a task decision—not a quality button.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28613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/ THE FRAMEWORK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85775" y="603647"/>
            <a:ext cx="817245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Three levels. One question.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85775" y="1105384"/>
            <a:ext cx="564356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Choose the lowest reasoning level that can reliably solve the task.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85775" y="1642560"/>
            <a:ext cx="2619356" cy="2137265"/>
          </a:xfrm>
          <a:prstGeom prst="rect">
            <a:avLst/>
          </a:prstGeom>
          <a:solidFill>
            <a:srgbClr val="FF5252">
              <a:alpha val="15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650" y="1785435"/>
            <a:ext cx="23336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 · SPEED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8650" y="2110476"/>
            <a:ext cx="233360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628650" y="2628398"/>
            <a:ext cx="23336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Clear, local, reversible.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650" y="3135604"/>
            <a:ext cx="233360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Simple helpers, boilerplate, documentation, and routine fixes.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62294" y="1528260"/>
            <a:ext cx="2619356" cy="2137265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5169" y="1671135"/>
            <a:ext cx="23336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· CONTEXT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05169" y="1996176"/>
            <a:ext cx="233360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3405169" y="2514098"/>
            <a:ext cx="23336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Everyday development.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05169" y="3021304"/>
            <a:ext cx="233360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Normal features, related files, project conventions, and tests.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8813" y="1485398"/>
            <a:ext cx="2619356" cy="2137265"/>
          </a:xfrm>
          <a:prstGeom prst="rect">
            <a:avLst/>
          </a:prstGeom>
          <a:solidFill>
            <a:srgbClr val="004D40">
              <a:alpha val="12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688" y="1628273"/>
            <a:ext cx="23336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 · RISK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181688" y="1953313"/>
            <a:ext cx="233360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</a:t>
            </a:r>
            <a:endParaRPr lang="en-US" sz="2350" dirty="0"/>
          </a:p>
        </p:txBody>
      </p:sp>
      <p:sp>
        <p:nvSpPr>
          <p:cNvPr id="19" name="Text 16"/>
          <p:cNvSpPr/>
          <p:nvPr/>
        </p:nvSpPr>
        <p:spPr>
          <a:xfrm>
            <a:off x="6181688" y="2471235"/>
            <a:ext cx="2333606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Ambiguous, complex, high-risk.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81688" y="2982683"/>
            <a:ext cx="2333606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Difficult bugs, architecture, refactors, security, and migration.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5775" y="3822688"/>
            <a:ext cx="8172450" cy="239316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Same framework:</a:t>
            </a:r>
            <a:r>
              <a:rPr lang="en-US" sz="8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Claude Code and Codex. Product labels may differ by interface.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">
            <a:off x="6036469" y="214313"/>
            <a:ext cx="2786063" cy="1143000"/>
          </a:xfrm>
          <a:prstGeom prst="rect">
            <a:avLst/>
          </a:prstGeom>
          <a:solidFill>
            <a:srgbClr val="FF5252">
              <a:alpha val="1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14325"/>
            <a:ext cx="81724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 / SAME TASK, TWO TOOLS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5775" y="575072"/>
            <a:ext cx="8172450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Claude Code and Codex: same reasoning question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85775" y="1463687"/>
            <a:ext cx="8172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Choose the effort from the task—not from the tool’s brand.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5775" y="1835162"/>
            <a:ext cx="8172450" cy="750094"/>
          </a:xfrm>
          <a:prstGeom prst="rect">
            <a:avLst/>
          </a:prstGeom>
          <a:solidFill>
            <a:srgbClr val="FF5252">
              <a:alpha val="17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363" y="2054833"/>
            <a:ext cx="1758925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Light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73288" y="2019951"/>
            <a:ext cx="1758925" cy="3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Claude Code: Light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
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Codex: Light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32213" y="2117341"/>
            <a:ext cx="43974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Simple helpers · boilerplate · docs · routine fixes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5775" y="2670981"/>
            <a:ext cx="8172450" cy="750094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363" y="2890651"/>
            <a:ext cx="1758925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Medium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373288" y="2855770"/>
            <a:ext cx="1758925" cy="3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Claude Code: Medium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
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Codex: Medium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32213" y="2856719"/>
            <a:ext cx="43974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Normal features · related files · tests · integration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5775" y="3506800"/>
            <a:ext cx="8172450" cy="750094"/>
          </a:xfrm>
          <a:prstGeom prst="rect">
            <a:avLst/>
          </a:prstGeom>
          <a:solidFill>
            <a:srgbClr val="004D40">
              <a:alpha val="13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363" y="3726470"/>
            <a:ext cx="1758925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Deep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373288" y="3691589"/>
            <a:ext cx="1758925" cy="3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Claude Code: Deep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
</a:t>
            </a:r>
            <a:r>
              <a:rPr lang="en-US" sz="115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Codex: Deep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32213" y="3692537"/>
            <a:ext cx="43974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Difficult bugs · refactors · architecture · security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5775" y="4414056"/>
            <a:ext cx="8172450" cy="392906"/>
          </a:xfrm>
          <a:prstGeom prst="rect">
            <a:avLst/>
          </a:prstGeom>
          <a:solidFill>
            <a:srgbClr val="FFFFFF">
              <a:alpha val="24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" y="4414056"/>
            <a:ext cx="8172450" cy="392906"/>
          </a:xfrm>
          <a:prstGeom prst="rect">
            <a:avLst/>
          </a:prstGeom>
          <a:noFill/>
          <a:ln/>
        </p:spPr>
        <p:txBody>
          <a:bodyPr wrap="square" lIns="153035" tIns="119126" rIns="153035" bIns="102108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Takeaway:</a:t>
            </a:r>
            <a:r>
              <a:rPr lang="en-US" sz="10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the same task generally deserves the same reasoning level in both tools.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420000">
            <a:off x="6286500" y="1285875"/>
            <a:ext cx="2571750" cy="1357313"/>
          </a:xfrm>
          <a:prstGeom prst="rect">
            <a:avLst/>
          </a:prstGeom>
          <a:solidFill>
            <a:srgbClr val="FF5252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28613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 / AUDIENCE SCENARIO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85775" y="596503"/>
            <a:ext cx="817245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Easy task: how much thinking?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485775" y="1241115"/>
            <a:ext cx="5286375" cy="1528763"/>
          </a:xfrm>
          <a:prstGeom prst="rect">
            <a:avLst/>
          </a:prstGeom>
          <a:solidFill>
            <a:srgbClr val="FFFFFF">
              <a:alpha val="28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383990"/>
            <a:ext cx="49720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SCENARIO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2938" y="1651881"/>
            <a:ext cx="464343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“Add a helper that formats a date as </a:t>
            </a:r>
            <a:r>
              <a:rPr lang="en-US" sz="16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YYYY-MM-DD</a:t>
            </a:r>
            <a:r>
              <a:rPr lang="en-US" sz="17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and write a unit test.”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015038" y="1255402"/>
            <a:ext cx="2643188" cy="238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What would you choose?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15038" y="1565039"/>
            <a:ext cx="2643188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Claude Code? Codex?</a:t>
            </a: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Light, Medium, or Deep?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15038" y="2059298"/>
            <a:ext cx="539353" cy="346472"/>
          </a:xfrm>
          <a:prstGeom prst="rect">
            <a:avLst/>
          </a:prstGeom>
          <a:solidFill>
            <a:srgbClr val="FFFFFF">
              <a:alpha val="2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5038" y="2059298"/>
            <a:ext cx="539353" cy="346472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Light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97253" y="2059298"/>
            <a:ext cx="760809" cy="346472"/>
          </a:xfrm>
          <a:prstGeom prst="rect">
            <a:avLst/>
          </a:prstGeom>
          <a:solidFill>
            <a:srgbClr val="FFFFFF">
              <a:alpha val="2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7253" y="2059298"/>
            <a:ext cx="760809" cy="346472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Medium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00925" y="2059298"/>
            <a:ext cx="514350" cy="346472"/>
          </a:xfrm>
          <a:prstGeom prst="rect">
            <a:avLst/>
          </a:prstGeom>
          <a:solidFill>
            <a:srgbClr val="FF5252">
              <a:alpha val="18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0925" y="2059298"/>
            <a:ext cx="514350" cy="346472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5775" y="3134209"/>
            <a:ext cx="2652675" cy="558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525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Reveal:</a:t>
            </a:r>
            <a:r>
              <a:rPr lang="en-US" sz="18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
</a:t>
            </a:r>
            <a:r>
              <a:rPr lang="en-US" sz="18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Light / Light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52763" y="3134209"/>
            <a:ext cx="5000625" cy="558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task is deterministic, local, reversible, and easy to verify. Deep reasoning adds time without much benefit.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5775" y="4818459"/>
            <a:ext cx="170880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Vote first. Reveal second.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28613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05 / AUDIENCE SCENARIO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85775" y="603647"/>
            <a:ext cx="8172450" cy="416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Normal feature: how much thinking?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85775" y="1405421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REQUEST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85775" y="1666168"/>
            <a:ext cx="5000625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“Add CSV upload to an existing application. Validate rows, show errors, store valid records, and add tests.”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85775" y="2589498"/>
            <a:ext cx="5286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This touches validation, persistence, UI, and verification.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015038" y="1262546"/>
            <a:ext cx="2643188" cy="1882601"/>
          </a:xfrm>
          <a:prstGeom prst="rect">
            <a:avLst/>
          </a:prstGeom>
          <a:solidFill>
            <a:srgbClr val="FFFFFF">
              <a:alpha val="26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2194" y="1369702"/>
            <a:ext cx="2428875" cy="238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vote?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122194" y="1665052"/>
            <a:ext cx="242887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Choose a level for Claude Code and Codex.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22194" y="2080729"/>
            <a:ext cx="2428875" cy="285750"/>
          </a:xfrm>
          <a:prstGeom prst="rect">
            <a:avLst/>
          </a:prstGeom>
          <a:solidFill>
            <a:srgbClr val="E0F2F1">
              <a:alpha val="6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2194" y="2080729"/>
            <a:ext cx="2428875" cy="285750"/>
          </a:xfrm>
          <a:prstGeom prst="rect">
            <a:avLst/>
          </a:prstGeom>
          <a:noFill/>
          <a:ln/>
        </p:spPr>
        <p:txBody>
          <a:bodyPr wrap="square" lIns="85090" tIns="68072" rIns="85090" bIns="5956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○ Light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2194" y="2402198"/>
            <a:ext cx="2428875" cy="285750"/>
          </a:xfrm>
          <a:prstGeom prst="rect">
            <a:avLst/>
          </a:prstGeom>
          <a:solidFill>
            <a:srgbClr val="E0F2F1">
              <a:alpha val="6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2194" y="2402198"/>
            <a:ext cx="2428875" cy="285750"/>
          </a:xfrm>
          <a:prstGeom prst="rect">
            <a:avLst/>
          </a:prstGeom>
          <a:noFill/>
          <a:ln/>
        </p:spPr>
        <p:txBody>
          <a:bodyPr wrap="square" lIns="85090" tIns="68072" rIns="85090" bIns="5956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○ Medium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2194" y="2723666"/>
            <a:ext cx="2428875" cy="285750"/>
          </a:xfrm>
          <a:prstGeom prst="rect">
            <a:avLst/>
          </a:prstGeom>
          <a:solidFill>
            <a:srgbClr val="E0F2F1">
              <a:alpha val="6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2194" y="2723666"/>
            <a:ext cx="2428875" cy="285750"/>
          </a:xfrm>
          <a:prstGeom prst="rect">
            <a:avLst/>
          </a:prstGeom>
          <a:noFill/>
          <a:ln/>
        </p:spPr>
        <p:txBody>
          <a:bodyPr wrap="square" lIns="85090" tIns="68072" rIns="85090" bIns="5956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○ Deep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5775" y="3309454"/>
            <a:ext cx="8172450" cy="739378"/>
          </a:xfrm>
          <a:prstGeom prst="rect">
            <a:avLst/>
          </a:prstGeom>
          <a:solidFill>
            <a:srgbClr val="FF5252">
              <a:alpha val="16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363" y="3423754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REVEAL · CLAUDE CODE / CODEX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14363" y="3605919"/>
            <a:ext cx="2571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Medium / Medium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3386138" y="3569419"/>
            <a:ext cx="5143500" cy="36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Why:</a:t>
            </a:r>
            <a:r>
              <a:rPr lang="en-US" sz="9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the agent must inspect the repository, coordinate several </a:t>
            </a:r>
            <a:r>
              <a:rPr lang="en-US" sz="950" dirty="0">
                <a:solidFill>
                  <a:srgbClr val="004D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files, and run tests—but the requirements are clear.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5775" y="4818459"/>
            <a:ext cx="24974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Enough thinking to integrate reliably.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 rot="420000">
            <a:off x="6015038" y="942975"/>
            <a:ext cx="2786063" cy="1214438"/>
          </a:xfrm>
          <a:prstGeom prst="rect">
            <a:avLst/>
          </a:prstGeom>
          <a:solidFill>
            <a:srgbClr val="00695C">
              <a:alpha val="1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420000">
            <a:off x="5822156" y="485775"/>
            <a:ext cx="2928938" cy="1500188"/>
          </a:xfrm>
          <a:prstGeom prst="rect">
            <a:avLst/>
          </a:prstGeom>
          <a:solidFill>
            <a:srgbClr val="FF5252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28613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06 / AUDIENCE SCENARIO · DIFFICULT BUG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85775" y="603647"/>
            <a:ext cx="8172450" cy="423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9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Now the cost of being wrong is high.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485775" y="1391413"/>
            <a:ext cx="5267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THE SCENARIO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85775" y="1630728"/>
            <a:ext cx="4929188" cy="623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8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“Users are randomly logged out after refreshing the page.”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85775" y="2361623"/>
            <a:ext cx="4929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 happens in production, but not locally. Find the root cause and add a regression test.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5775" y="2925980"/>
            <a:ext cx="5267288" cy="537679"/>
          </a:xfrm>
          <a:prstGeom prst="rect">
            <a:avLst/>
          </a:prstGeom>
          <a:solidFill>
            <a:srgbClr val="FFFFFF">
              <a:alpha val="26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775" y="2925980"/>
            <a:ext cx="5267288" cy="537679"/>
          </a:xfrm>
          <a:prstGeom prst="rect">
            <a:avLst/>
          </a:prstGeom>
          <a:noFill/>
          <a:ln/>
        </p:spPr>
        <p:txBody>
          <a:bodyPr wrap="square" lIns="127508" tIns="110617" rIns="127508" bIns="102108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b="1" dirty="0">
                <a:solidFill>
                  <a:srgbClr val="004D40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Possible surfaces: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cookies · tokens · session state · timing · </a:t>
            </a: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24525" y="1248538"/>
            <a:ext cx="2633644" cy="1678391"/>
          </a:xfrm>
          <a:prstGeom prst="rect">
            <a:avLst/>
          </a:prstGeom>
          <a:solidFill>
            <a:srgbClr val="FFFFFF">
              <a:alpha val="34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8825" y="1362838"/>
            <a:ext cx="24050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AUDIENCE VOTE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138825" y="1616441"/>
            <a:ext cx="2405044" cy="76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Light?</a:t>
            </a:r>
            <a:r>
              <a:rPr lang="en-US" sz="15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
</a:t>
            </a:r>
            <a:r>
              <a:rPr lang="en-US" sz="15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Medium?</a:t>
            </a:r>
            <a:r>
              <a:rPr lang="en-US" sz="15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
</a:t>
            </a:r>
            <a:r>
              <a:rPr lang="en-US" sz="15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138825" y="2509019"/>
            <a:ext cx="768344" cy="296466"/>
          </a:xfrm>
          <a:prstGeom prst="rect">
            <a:avLst/>
          </a:prstGeom>
          <a:noFill/>
          <a:ln/>
        </p:spPr>
        <p:txBody>
          <a:bodyPr wrap="none" lIns="42545" tIns="76581" rIns="42545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957175" y="2509019"/>
            <a:ext cx="768344" cy="296466"/>
          </a:xfrm>
          <a:prstGeom prst="rect">
            <a:avLst/>
          </a:prstGeom>
          <a:noFill/>
          <a:ln/>
        </p:spPr>
        <p:txBody>
          <a:bodyPr wrap="none" lIns="42545" tIns="76581" rIns="42545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75525" y="2509019"/>
            <a:ext cx="768344" cy="296466"/>
          </a:xfrm>
          <a:prstGeom prst="rect">
            <a:avLst/>
          </a:prstGeom>
          <a:noFill/>
          <a:ln/>
        </p:spPr>
        <p:txBody>
          <a:bodyPr wrap="none" lIns="42545" tIns="76581" rIns="42545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5775" y="3649396"/>
            <a:ext cx="8172450" cy="747136"/>
          </a:xfrm>
          <a:prstGeom prst="rect">
            <a:avLst/>
          </a:prstGeom>
          <a:solidFill>
            <a:srgbClr val="FF5252">
              <a:alpha val="19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363" y="3767547"/>
            <a:ext cx="2571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REVEAL · CLAUDE CODE / CODEX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14363" y="3942569"/>
            <a:ext cx="2571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DEEP / DEEP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3386138" y="3749408"/>
            <a:ext cx="5143500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symptom is ambiguous and cross-cutting. Deep reasoning gives the agent room to form hypotheses, inspect evidence, reproduce the failure, and verify the fix.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5775" y="4818459"/>
            <a:ext cx="4929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Deep reasoning is justified when investigation is more valuable than speed.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 rot="-180000">
            <a:off x="1714500" y="4086225"/>
            <a:ext cx="3714750" cy="928688"/>
          </a:xfrm>
          <a:prstGeom prst="rect">
            <a:avLst/>
          </a:prstGeom>
          <a:solidFill>
            <a:srgbClr val="004D40">
              <a:alpha val="11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420000">
            <a:off x="6529388" y="628650"/>
            <a:ext cx="2143125" cy="1357313"/>
          </a:xfrm>
          <a:prstGeom prst="rect">
            <a:avLst/>
          </a:prstGeom>
          <a:solidFill>
            <a:srgbClr val="FF5252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42900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07 / THE TRAP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85775" y="617934"/>
            <a:ext cx="8172450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Deep reasoning cannot fix an unclear prompt.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85775" y="1692287"/>
            <a:ext cx="3936206" cy="1714500"/>
          </a:xfrm>
          <a:prstGeom prst="rect">
            <a:avLst/>
          </a:prstGeom>
          <a:solidFill>
            <a:srgbClr val="FF5252">
              <a:alpha val="16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1849450"/>
            <a:ext cx="35933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AUDIENCE SCENARIO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7225" y="2272773"/>
            <a:ext cx="3593306" cy="401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27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“Fix the login bug.”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57225" y="2958126"/>
            <a:ext cx="35933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Ask the room: Which reasoning level would you choose?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22019" y="1813731"/>
            <a:ext cx="3936206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First, ask for the missing pieces.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22019" y="2210209"/>
            <a:ext cx="189666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REPRODUCE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22019" y="2406662"/>
            <a:ext cx="15716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 steps trigger it?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61559" y="2210209"/>
            <a:ext cx="189666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EXPECTED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61559" y="2406662"/>
            <a:ext cx="1285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 should happen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1559" y="2570578"/>
            <a:ext cx="571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instead?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22019" y="2913087"/>
            <a:ext cx="189666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22019" y="3109540"/>
            <a:ext cx="1500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Where does it happen?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1559" y="2913087"/>
            <a:ext cx="189666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EVIDENCE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61559" y="3109540"/>
            <a:ext cx="18573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 logs or errors exist?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5775" y="3663962"/>
            <a:ext cx="8172450" cy="440903"/>
          </a:xfrm>
          <a:prstGeom prst="rect">
            <a:avLst/>
          </a:prstGeom>
          <a:solidFill>
            <a:srgbClr val="FFFFFF">
              <a:alpha val="25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" y="3663962"/>
            <a:ext cx="8172450" cy="440903"/>
          </a:xfrm>
          <a:prstGeom prst="rect">
            <a:avLst/>
          </a:prstGeom>
          <a:noFill/>
          <a:ln/>
        </p:spPr>
        <p:txBody>
          <a:bodyPr wrap="square" lIns="170053" tIns="127508" rIns="170053" bIns="110617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30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Correct first move:</a:t>
            </a:r>
            <a:r>
              <a:rPr lang="en-US" sz="14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clarify the task before escalating reasoning.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5775" y="4789884"/>
            <a:ext cx="368048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better prompt makes every reasoning level more useful.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721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">
            <a:off x="6329363" y="242888"/>
            <a:ext cx="2500313" cy="1071563"/>
          </a:xfrm>
          <a:prstGeom prst="rect">
            <a:avLst/>
          </a:prstGeom>
          <a:solidFill>
            <a:srgbClr val="FF5252">
              <a:alpha val="1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242888"/>
            <a:ext cx="81724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08 / PRACTICAL SYNTHESIS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85775" y="517922"/>
            <a:ext cx="8172450" cy="408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800" b="1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A decision tree you can use tomorrow.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85775" y="997948"/>
            <a:ext cx="817245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Same logic for Claude Code and Codex. Start with the task, then choose the effort.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85775" y="1300107"/>
            <a:ext cx="1283531" cy="1368921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85775" y="1300107"/>
            <a:ext cx="1283531" cy="28575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6"/>
          <p:cNvSpPr/>
          <p:nvPr/>
        </p:nvSpPr>
        <p:spPr>
          <a:xfrm>
            <a:off x="528638" y="1342969"/>
            <a:ext cx="11978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 · CLARITY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28638" y="1553710"/>
            <a:ext cx="119780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Clear and local?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8638" y="1980549"/>
            <a:ext cx="1197806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One file. Predictable. Easy to verify.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12168" y="1300107"/>
            <a:ext cx="1283587" cy="1368921"/>
          </a:xfrm>
          <a:prstGeom prst="rect">
            <a:avLst/>
          </a:prstGeom>
          <a:solidFill>
            <a:srgbClr val="00695C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812168" y="1300107"/>
            <a:ext cx="1283587" cy="28575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1"/>
          <p:cNvSpPr/>
          <p:nvPr/>
        </p:nvSpPr>
        <p:spPr>
          <a:xfrm>
            <a:off x="1855031" y="1342969"/>
            <a:ext cx="11978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· SCOPE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855031" y="1553710"/>
            <a:ext cx="11978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Normal feature?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55031" y="1980549"/>
            <a:ext cx="1197862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Known requirements. Several files. Tests.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138618" y="1300107"/>
            <a:ext cx="1283587" cy="1368921"/>
          </a:xfrm>
          <a:prstGeom prst="rect">
            <a:avLst/>
          </a:prstGeom>
          <a:solidFill>
            <a:srgbClr val="FF5252">
              <a:alpha val="13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138618" y="1300107"/>
            <a:ext cx="1283587" cy="28575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9" name="Text 16"/>
          <p:cNvSpPr/>
          <p:nvPr/>
        </p:nvSpPr>
        <p:spPr>
          <a:xfrm>
            <a:off x="3181480" y="1342969"/>
            <a:ext cx="11978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 · RISK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181480" y="1553710"/>
            <a:ext cx="11978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Ambiguous or high-risk?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181480" y="1980549"/>
            <a:ext cx="1197862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Hidden causes. Production impact. High cost of error.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465067" y="1300107"/>
            <a:ext cx="1283531" cy="134034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465067" y="1300107"/>
            <a:ext cx="1283531" cy="28575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4" name="Text 21"/>
          <p:cNvSpPr/>
          <p:nvPr/>
        </p:nvSpPr>
        <p:spPr>
          <a:xfrm>
            <a:off x="4507929" y="1342969"/>
            <a:ext cx="11978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 · ESCALATE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507929" y="1553710"/>
            <a:ext cx="119780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Start lower.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07929" y="1788561"/>
            <a:ext cx="1197806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Raise the level if the first attempt fails.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60092" y="1950188"/>
            <a:ext cx="21431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756970" y="1950188"/>
            <a:ext cx="21431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252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91460" y="1300107"/>
            <a:ext cx="2866765" cy="1340346"/>
          </a:xfrm>
          <a:prstGeom prst="rect">
            <a:avLst/>
          </a:prstGeom>
          <a:solidFill>
            <a:srgbClr val="FF5252">
              <a:alpha val="18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48610" y="1357257"/>
            <a:ext cx="275246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5848610" y="1675154"/>
            <a:ext cx="27524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Speed first.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48610" y="1857319"/>
            <a:ext cx="275246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 Code: Light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
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Codex: Light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791460" y="2683315"/>
            <a:ext cx="2866765" cy="935831"/>
          </a:xfrm>
          <a:prstGeom prst="rect">
            <a:avLst/>
          </a:prstGeom>
          <a:solidFill>
            <a:srgbClr val="00695C">
              <a:alpha val="11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48610" y="2740465"/>
            <a:ext cx="275246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5848610" y="3058362"/>
            <a:ext cx="27524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Everyday coordination.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848610" y="3240528"/>
            <a:ext cx="275246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 Code: Medium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
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Codex: Medium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791460" y="3647722"/>
            <a:ext cx="2866765" cy="935831"/>
          </a:xfrm>
          <a:prstGeom prst="rect">
            <a:avLst/>
          </a:prstGeom>
          <a:solidFill>
            <a:srgbClr val="004D40">
              <a:alpha val="14000"/>
            </a:srgbClr>
          </a:solidFill>
          <a:ln w="9144">
            <a:solidFill>
              <a:srgbClr val="004D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48610" y="3704872"/>
            <a:ext cx="275246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5848610" y="4022768"/>
            <a:ext cx="27524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Investigate and verify.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848610" y="4204934"/>
            <a:ext cx="275246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Claude Code: Deep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
</a:t>
            </a:r>
            <a:r>
              <a:rPr lang="en-US" sz="800" b="1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Codex: Deep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85775" y="4697853"/>
            <a:ext cx="8172450" cy="617153"/>
          </a:xfrm>
          <a:prstGeom prst="rect">
            <a:avLst/>
          </a:prstGeom>
          <a:solidFill>
            <a:srgbClr val="FFFFFF">
              <a:alpha val="22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5775" y="4697853"/>
            <a:ext cx="8172450" cy="617153"/>
          </a:xfrm>
          <a:prstGeom prst="rect">
            <a:avLst/>
          </a:prstGeom>
          <a:noFill/>
          <a:ln/>
        </p:spPr>
        <p:txBody>
          <a:bodyPr wrap="square" lIns="119126" tIns="102108" rIns="119126" bIns="8509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5252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Rule of thumb:</a:t>
            </a:r>
            <a:r>
              <a:rPr lang="en-US" sz="14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use the lowest level that can reliably solve the task. Clarify before </a:t>
            </a:r>
            <a:r>
              <a:rPr lang="en-US" sz="14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escalating.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420000">
            <a:off x="1785937" y="3214688"/>
            <a:ext cx="3429000" cy="1500188"/>
          </a:xfrm>
          <a:prstGeom prst="rect">
            <a:avLst/>
          </a:prstGeom>
          <a:solidFill>
            <a:srgbClr val="FF5252">
              <a:alpha val="1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85775" y="371475"/>
            <a:ext cx="5395875" cy="40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08 / CLOSING THOUGHT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85775" y="900336"/>
            <a:ext cx="5395875" cy="7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3100" b="1" spc="-1" kern="0" dirty="0">
                <a:solidFill>
                  <a:srgbClr val="004D40"/>
                </a:solidFill>
                <a:latin typeface="Roboto Slab Black" pitchFamily="34" charset="0"/>
                <a:ea typeface="Roboto Slab Black" pitchFamily="34" charset="-122"/>
                <a:cs typeface="Roboto Slab Black" pitchFamily="34" charset="-120"/>
              </a:rPr>
              <a:t>Think just enough.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485775" y="1838511"/>
            <a:ext cx="5000625" cy="1220744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55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“Use Light for speed, Medium for everyday development, and Deep when the cost of being wrong is higher than the cost of waiting.”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1700" y="1014636"/>
            <a:ext cx="2376469" cy="617934"/>
          </a:xfrm>
          <a:prstGeom prst="rect">
            <a:avLst/>
          </a:prstGeom>
          <a:solidFill>
            <a:srgbClr val="FF5252">
              <a:alpha val="16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8857" y="1110351"/>
            <a:ext cx="216215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LIGHT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88857" y="1413960"/>
            <a:ext cx="13001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Clear · local · reversible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6160257" y="1735429"/>
            <a:ext cx="2497913" cy="617934"/>
          </a:xfrm>
          <a:prstGeom prst="rect">
            <a:avLst/>
          </a:prstGeom>
          <a:solidFill>
            <a:srgbClr val="00695C">
              <a:alpha val="10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7413" y="1831144"/>
            <a:ext cx="228360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MEDIUM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67413" y="2134753"/>
            <a:ext cx="15001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Context · coordination · tests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6038813" y="2456222"/>
            <a:ext cx="2619356" cy="617934"/>
          </a:xfrm>
          <a:prstGeom prst="rect">
            <a:avLst/>
          </a:prstGeom>
          <a:solidFill>
            <a:srgbClr val="004D40">
              <a:alpha val="12000"/>
            </a:srgbClr>
          </a:solidFill>
          <a:ln w="9144">
            <a:solidFill>
              <a:srgbClr val="006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5969" y="2551937"/>
            <a:ext cx="2405044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4D4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DEEP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45969" y="2855547"/>
            <a:ext cx="15501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Ambiguous · complex · high-risk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85775" y="4283794"/>
            <a:ext cx="26645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252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DISCUSSION PROMPT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328932" y="4276651"/>
            <a:ext cx="4914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a task where you changed reasoning level after the first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28932" y="4482033"/>
            <a:ext cx="11537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4D4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attempt failed?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28932" y="4751710"/>
            <a:ext cx="5329238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00695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Same task → Claude Code level vs. Codex level → compare the result.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 rot="480000">
            <a:off x="6572250" y="285750"/>
            <a:ext cx="2143125" cy="1214438"/>
          </a:xfrm>
          <a:prstGeom prst="rect">
            <a:avLst/>
          </a:prstGeom>
          <a:solidFill>
            <a:srgbClr val="004D40">
              <a:alpha val="1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2026-08-18T11:41:11Z</dcterms:created>
  <dcterms:modified xsi:type="dcterms:W3CDTF">2026-08-18T11:41:11Z</dcterms:modified>
</cp:coreProperties>
</file>