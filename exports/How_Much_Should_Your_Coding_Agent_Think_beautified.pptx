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c914589f8845e7" /><Relationship Type="http://schemas.openxmlformats.org/officeDocument/2006/relationships/extended-properties" Target="/docProps/app.xml" Id="Rd8af084aa2e44dbb" /><Relationship Type="http://schemas.openxmlformats.org/officeDocument/2006/relationships/officeDocument" Target="/ppt/presentation.xml" Id="R7a78d182c9bb45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b7f613c4d4c1e"/>
  </p:sldMasterIdLst>
  <p:notesMasterIdLst>
    <p:notesMasterId xmlns:r="http://schemas.openxmlformats.org/officeDocument/2006/relationships" r:id="Rfc12f79fc5d04751"/>
  </p:notesMasterIdLst>
  <p:sldIdLst>
    <p:sldId xmlns:r="http://schemas.openxmlformats.org/officeDocument/2006/relationships" id="256" r:id="Rad97eedb6b5a4235"/>
    <p:sldId xmlns:r="http://schemas.openxmlformats.org/officeDocument/2006/relationships" id="257" r:id="R091160c9d3734a66"/>
    <p:sldId xmlns:r="http://schemas.openxmlformats.org/officeDocument/2006/relationships" id="258" r:id="R111aee2727d240bc"/>
    <p:sldId xmlns:r="http://schemas.openxmlformats.org/officeDocument/2006/relationships" id="259" r:id="Rc0a0e3cdca614ebc"/>
    <p:sldId xmlns:r="http://schemas.openxmlformats.org/officeDocument/2006/relationships" id="260" r:id="R27f3130f665d4d92"/>
    <p:sldId xmlns:r="http://schemas.openxmlformats.org/officeDocument/2006/relationships" id="261" r:id="Ra48b344b076b4531"/>
    <p:sldId xmlns:r="http://schemas.openxmlformats.org/officeDocument/2006/relationships" id="262" r:id="Rb046e988da3d4f30"/>
    <p:sldId xmlns:r="http://schemas.openxmlformats.org/officeDocument/2006/relationships" id="263" r:id="R07e41dabade9466d"/>
    <p:sldId xmlns:r="http://schemas.openxmlformats.org/officeDocument/2006/relationships" id="264" r:id="Rbb715e6d22454612"/>
    <p:sldId xmlns:r="http://schemas.openxmlformats.org/officeDocument/2006/relationships" id="265" r:id="R869c84ec833949b5"/>
    <p:sldId xmlns:r="http://schemas.openxmlformats.org/officeDocument/2006/relationships" id="266" r:id="Rd6991800fad84add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275e2cfa47424b" /><Relationship Type="http://schemas.openxmlformats.org/officeDocument/2006/relationships/slideMaster" Target="/ppt/slideMasters/slideMaster1.xml" Id="Rf22b7f613c4d4c1e" /><Relationship Type="http://schemas.openxmlformats.org/officeDocument/2006/relationships/notesMaster" Target="/ppt/notesMasters/notesMaster1.xml" Id="Rfc12f79fc5d04751" /><Relationship Type="http://schemas.openxmlformats.org/officeDocument/2006/relationships/presProps" Target="/ppt/presProps.xml" Id="R78b37813a281491d" /><Relationship Type="http://schemas.openxmlformats.org/officeDocument/2006/relationships/viewProps" Target="/ppt/viewProps.xml" Id="Rf0e23d8b2f094837" /><Relationship Type="http://schemas.openxmlformats.org/officeDocument/2006/relationships/tableStyles" Target="/ppt/tableStyles.xml" Id="Rd7993ecef0644d46" /><Relationship Type="http://schemas.openxmlformats.org/officeDocument/2006/relationships/slide" Target="/ppt/slides/slide1.xml" Id="Rad97eedb6b5a4235" /><Relationship Type="http://schemas.openxmlformats.org/officeDocument/2006/relationships/slide" Target="/ppt/slides/slide2.xml" Id="R091160c9d3734a66" /><Relationship Type="http://schemas.openxmlformats.org/officeDocument/2006/relationships/slide" Target="/ppt/slides/slide3.xml" Id="R111aee2727d240bc" /><Relationship Type="http://schemas.openxmlformats.org/officeDocument/2006/relationships/slide" Target="/ppt/slides/slide4.xml" Id="Rc0a0e3cdca614ebc" /><Relationship Type="http://schemas.openxmlformats.org/officeDocument/2006/relationships/slide" Target="/ppt/slides/slide5.xml" Id="R27f3130f665d4d92" /><Relationship Type="http://schemas.openxmlformats.org/officeDocument/2006/relationships/slide" Target="/ppt/slides/slide6.xml" Id="Ra48b344b076b4531" /><Relationship Type="http://schemas.openxmlformats.org/officeDocument/2006/relationships/slide" Target="/ppt/slides/slide7.xml" Id="Rb046e988da3d4f30" /><Relationship Type="http://schemas.openxmlformats.org/officeDocument/2006/relationships/slide" Target="/ppt/slides/slide8.xml" Id="R07e41dabade9466d" /><Relationship Type="http://schemas.openxmlformats.org/officeDocument/2006/relationships/slide" Target="/ppt/slides/slide9.xml" Id="Rbb715e6d22454612" /><Relationship Type="http://schemas.openxmlformats.org/officeDocument/2006/relationships/slide" Target="/ppt/slides/slide10.xml" Id="R869c84ec833949b5" /><Relationship Type="http://schemas.openxmlformats.org/officeDocument/2006/relationships/slide" Target="/ppt/slides/slide11.xml" Id="Rd6991800fad8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49a4484b3f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4363fe03a4210" /><Relationship Type="http://schemas.openxmlformats.org/officeDocument/2006/relationships/notesMaster" Target="/ppt/notesMasters/notesMaster1.xml" Id="R12a3fc9f234348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43d430bb84e1a" /><Relationship Type="http://schemas.openxmlformats.org/officeDocument/2006/relationships/notesMaster" Target="/ppt/notesMasters/notesMaster1.xml" Id="Rbd7bed9e642c4f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e6f88428348a6" /><Relationship Type="http://schemas.openxmlformats.org/officeDocument/2006/relationships/notesMaster" Target="/ppt/notesMasters/notesMaster1.xml" Id="R31ffb63a519e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c8896261e4d38" /><Relationship Type="http://schemas.openxmlformats.org/officeDocument/2006/relationships/notesMaster" Target="/ppt/notesMasters/notesMaster1.xml" Id="R76956f1ae1b749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cbab617fd4cc2" /><Relationship Type="http://schemas.openxmlformats.org/officeDocument/2006/relationships/notesMaster" Target="/ppt/notesMasters/notesMaster1.xml" Id="R53ddd06a17154e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ca3880bb8d40d2" /><Relationship Type="http://schemas.openxmlformats.org/officeDocument/2006/relationships/notesMaster" Target="/ppt/notesMasters/notesMaster1.xml" Id="Rc63c5834ac894b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31232c0064f82" /><Relationship Type="http://schemas.openxmlformats.org/officeDocument/2006/relationships/notesMaster" Target="/ppt/notesMasters/notesMaster1.xml" Id="R31003a6e43ac4a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e781881ac54519" /><Relationship Type="http://schemas.openxmlformats.org/officeDocument/2006/relationships/notesMaster" Target="/ppt/notesMasters/notesMaster1.xml" Id="R66935815713346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bb5f23d5b84ed7" /><Relationship Type="http://schemas.openxmlformats.org/officeDocument/2006/relationships/notesMaster" Target="/ppt/notesMasters/notesMaster1.xml" Id="R33ac086a278d45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884f5ebc4c45be" /><Relationship Type="http://schemas.openxmlformats.org/officeDocument/2006/relationships/notesMaster" Target="/ppt/notesMasters/notesMaster1.xml" Id="Rb0d7f85d2b7545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c17c672fa842cc" /><Relationship Type="http://schemas.openxmlformats.org/officeDocument/2006/relationships/notesMaster" Target="/ppt/notesMasters/notesMaster1.xml" Id="Rd2be184524d34b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User-provided source deck and outline in https://github.com/sunveda/vibe-coders-tokyo-9/tree/main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Preserved closing page from https://github.com/sunveda/codex-meetup-tokyo-2026-08-07-fri/blob/main/topic-1-codex-for-everyone/codex-for-everyone-bilingual.pdf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8cd48b2e54a7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8df0e326634341" /><Relationship Type="http://schemas.openxmlformats.org/officeDocument/2006/relationships/slideLayout" Target="/ppt/slideLayouts/slideLayout1.xml" Id="R1fbf16e88cd643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f16e88cd643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74a2c82584867" /><Relationship Type="http://schemas.openxmlformats.org/officeDocument/2006/relationships/notesSlide" Target="/ppt/notesSlides/notesSlide1.xml" Id="Ra73b6ada2429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8fb692bb740a5" /><Relationship Type="http://schemas.openxmlformats.org/officeDocument/2006/relationships/notesSlide" Target="/ppt/notesSlides/notesSlide2.xml" Id="R03f2627a8b93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7e57c04a142bb" /><Relationship Type="http://schemas.openxmlformats.org/officeDocument/2006/relationships/notesSlide" Target="/ppt/notesSlides/notesSlide3.xml" Id="Rf6d984a1df224c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a84bc68d241eb" /><Relationship Type="http://schemas.openxmlformats.org/officeDocument/2006/relationships/notesSlide" Target="/ppt/notesSlides/notesSlide4.xml" Id="R631655f2d0fd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d2c6f5ebc470e" /><Relationship Type="http://schemas.openxmlformats.org/officeDocument/2006/relationships/notesSlide" Target="/ppt/notesSlides/notesSlide5.xml" Id="R5d87940daf7a4f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293b15ef94c57" /><Relationship Type="http://schemas.openxmlformats.org/officeDocument/2006/relationships/notesSlide" Target="/ppt/notesSlides/notesSlide6.xml" Id="R88b4d658b50340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93e6a6ba145f8" /><Relationship Type="http://schemas.openxmlformats.org/officeDocument/2006/relationships/notesSlide" Target="/ppt/notesSlides/notesSlide7.xml" Id="R1155654844414b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cd95bf1fc4dab" /><Relationship Type="http://schemas.openxmlformats.org/officeDocument/2006/relationships/notesSlide" Target="/ppt/notesSlides/notesSlide8.xml" Id="Rf4fc2cde579f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de5b4ab784d82" /><Relationship Type="http://schemas.openxmlformats.org/officeDocument/2006/relationships/notesSlide" Target="/ppt/notesSlides/notesSlide9.xml" Id="Rfffe385d6f5d41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2085095394e22" /><Relationship Type="http://schemas.openxmlformats.org/officeDocument/2006/relationships/notesSlide" Target="/ppt/notesSlides/notesSlide10.xml" Id="R622c726967574f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4d4fa0fe94395" /><Relationship Type="http://schemas.openxmlformats.org/officeDocument/2006/relationships/image" Target="/ppt/media/image.jpeg" Id="R321e321b35e34fd1" /><Relationship Type="http://schemas.openxmlformats.org/officeDocument/2006/relationships/image" Target="/ppt/media/image2.jpeg" Id="R1a8f25b7605f47fd" /><Relationship Type="http://schemas.openxmlformats.org/officeDocument/2006/relationships/notesSlide" Target="/ppt/notesSlides/notesSlide11.xml" Id="R112f9a2f4a5e4b3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B879B35-F39F-4E2F-930F-6A5C7E1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877050" y="266700"/>
            <a:ext cx="1619250" cy="1476375"/>
          </a:xfrm>
          <a:prstGeom xmlns:a="http://schemas.openxmlformats.org/drawingml/2006/main" prst="roundRect">
            <a:avLst>
              <a:gd name="adj" fmla="val 11613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1B4961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6EB06CF-E4FA-4184-8DFE-C0E0FACF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6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VIBE CODERS TOKYO #9 · MODELS, MODELS, MODELS</a:t>
            </a:r>
            <a:endParaRPr sz="7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757972D-74A7-4EB3-B590-74348E41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800100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4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450" b="1" spc="-2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If an AI coding agent can </a:t>
            </a:r>
            <a:r>
              <a:rPr sz="3450" b="1" spc="-2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think harder,</a:t>
            </a:r>
            <a:br>
              <a:rPr sz="34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</a:br>
            <a:r>
              <a:rPr sz="3450" b="1" spc="-2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should we always ask it </a:t>
            </a:r>
            <a:r>
              <a:rPr sz="3450" b="1" spc="-2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to?</a:t>
            </a:r>
            <a:endParaRPr sz="3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E8B9D2-65F5-42CA-B183-F98A9B5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857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buNone/>
              <a:def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defRPr>
            </a:pPr>
            <a:r>
              <a: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Choosing reasoning effort in </a:t>
            </a:r>
            <a:r>
              <a: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Claude Code</a:t>
            </a:r>
            <a:r>
              <a: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 and </a:t>
            </a:r>
            <a:r>
              <a: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Codex</a:t>
            </a:r>
            <a:r>
              <a:rPr sz="1275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.</a:t>
            </a:r>
            <a:endParaRPr sz="10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EDB82FF3-9742-4CB1-8F78-EBD615B4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390900"/>
            <a:ext cx="4953000" cy="12573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B0A1351-76E1-4BDC-8519-B3C5D21D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562350"/>
            <a:ext cx="455295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90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AUDIENCE VOTE  →</a:t>
            </a:r>
          </a:p>
          <a:p xmlns:a="http://schemas.openxmlformats.org/drawingml/2006/main">
            <a:pPr algn="l"/>
            <a:r>
              <a: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Light, Medium, or Deep?</a:t>
            </a:r>
          </a:p>
          <a:p xmlns:a="http://schemas.openxmlformats.org/drawingml/2006/main">
            <a:pPr algn="l"/>
            <a:r>
              <a:rPr sz="105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What would you choose for your next coding task?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5FFEC83-CA14-4121-9518-A3313EBC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076450"/>
            <a:ext cx="2667000" cy="647700"/>
          </a:xfrm>
          <a:prstGeom xmlns:a="http://schemas.openxmlformats.org/drawingml/2006/main" prst="roundRect">
            <a:avLst>
              <a:gd name="adj" fmla="val 205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5BB35A0-29AA-4B4F-A5CB-C6842C4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21812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06D6B0B-1094-4B0F-BD89-1E4232A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3650" y="2457450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Fast · clear · reversible</a:t>
            </a:r>
            <a:endParaRPr sz="6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E31C321-7AC5-4236-A3D3-77B797EC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876550"/>
            <a:ext cx="2667000" cy="647700"/>
          </a:xfrm>
          <a:prstGeom xmlns:a="http://schemas.openxmlformats.org/drawingml/2006/main" prst="roundRect">
            <a:avLst>
              <a:gd name="adj" fmla="val 205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558267F-4A6C-4977-ACF2-D4706D15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29813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6ED73DF-F810-4751-B2D4-47995158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3257550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Context · coordination · tests</a:t>
            </a:r>
            <a:endParaRPr sz="6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B2BB3AA-2CA7-4FAE-9E68-8BF207F4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3676650"/>
            <a:ext cx="2667000" cy="647700"/>
          </a:xfrm>
          <a:prstGeom xmlns:a="http://schemas.openxmlformats.org/drawingml/2006/main" prst="roundRect">
            <a:avLst>
              <a:gd name="adj" fmla="val 2058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0D5C4C6-F2A7-46FF-9BE3-99A48EE2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781425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1BE8989-3F02-47D7-9F02-2F77041B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057650"/>
            <a:ext cx="2362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Ambiguous · complex · high-risk</a:t>
            </a:r>
            <a:endParaRPr sz="6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0A4FE1D-EAAC-470F-98F9-F6D1A5C2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A practical framework for choosing how much thinking a coding task deserves</a:t>
            </a:r>
            <a:endParaRPr sz="6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5F14FF-B9F2-4C4D-A6F1-3F00CB97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4476750" y="4210050"/>
            <a:ext cx="2190750" cy="552450"/>
          </a:xfrm>
          <a:prstGeom xmlns:a="http://schemas.openxmlformats.org/drawingml/2006/main" prst="roundRect">
            <a:avLst>
              <a:gd name="adj" fmla="val 31034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7584414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C5D305C-C9E2-4784-9ED6-8B28D541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6667500" y="3676650"/>
            <a:ext cx="2095500" cy="1047750"/>
          </a:xfrm>
          <a:prstGeom xmlns:a="http://schemas.openxmlformats.org/drawingml/2006/main" prst="roundRect">
            <a:avLst>
              <a:gd name="adj" fmla="val 16364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792CE45C-BB03-4B5D-999A-7608226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02 / THE IDEA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391E5E9-543E-4C0E-A776-05B8457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292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92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What does “reasoning effort” mean?</a:t>
            </a:r>
            <a:endParaRPr sz="2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7D66970-C4DB-4F45-9250-1CD8FA42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4763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21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21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How much thinking does the task deserve?</a:t>
            </a:r>
            <a:endParaRPr sz="2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21A499C-3D80-49FF-B7B1-0D0E12C7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47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050" b="0">
                <a:solidFill>
                  <a:srgbClr val="48D7C5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More thinking is not automatically better.</a:t>
            </a:r>
            <a:endParaRPr sz="10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B6A50A1-AC8D-414E-9615-688D03B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428750"/>
            <a:ext cx="2571750" cy="1190625"/>
          </a:xfrm>
          <a:prstGeom xmlns:a="http://schemas.openxmlformats.org/drawingml/2006/main" prst="roundRect">
            <a:avLst>
              <a:gd name="adj" fmla="val 12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F9681C1-D96B-411F-824D-46A4E5E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156210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01</a:t>
            </a:r>
            <a:endParaRPr sz="16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F1D13EE-45E7-481A-BCF7-9DE5246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Context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A64D535-F790-4210-B5F4-D1F41FC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2098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How much code must it</a:t>
            </a:r>
            <a:endParaRPr sz="10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9F26BC-2F13-4B49-8601-F991F74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38125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understand?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B7E2261-3C82-4AF9-BF32-BBDA5281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1428750"/>
            <a:ext cx="2571750" cy="1190625"/>
          </a:xfrm>
          <a:prstGeom xmlns:a="http://schemas.openxmlformats.org/drawingml/2006/main" prst="roundRect">
            <a:avLst>
              <a:gd name="adj" fmla="val 12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233DCD7-31B1-4F85-9606-E8615DF7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562100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02</a:t>
            </a:r>
            <a:endParaRPr sz="16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0A9C719-6138-4C76-91C7-693809C8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Alternatives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5DE4C04-DBC5-47B0-AF48-E892D14F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22098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How many approaches are</a:t>
            </a:r>
            <a:endParaRPr sz="10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9D9070D-4D46-48CF-A7FB-AE870E2D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238125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plausible?</a:t>
            </a:r>
            <a:endParaRPr sz="10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075B3F4D-B96C-4BEE-93A9-AEDBFD18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809875"/>
            <a:ext cx="2571750" cy="1190625"/>
          </a:xfrm>
          <a:prstGeom xmlns:a="http://schemas.openxmlformats.org/drawingml/2006/main" prst="roundRect">
            <a:avLst>
              <a:gd name="adj" fmla="val 12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C987E07-8509-4A19-93C6-C914F131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2943225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03</a:t>
            </a:r>
            <a:endParaRPr sz="16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6ED7768-83CF-4F6D-ACCB-E440FC9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3267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Edge cases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4D5B55D-8F63-4893-93A6-57422079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6150" y="35909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What could fail?</a:t>
            </a:r>
            <a:endParaRPr sz="10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D05CB70-46EE-4469-986B-2004B896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09875"/>
            <a:ext cx="2571750" cy="1190625"/>
          </a:xfrm>
          <a:prstGeom xmlns:a="http://schemas.openxmlformats.org/drawingml/2006/main" prst="roundRect">
            <a:avLst>
              <a:gd name="adj" fmla="val 128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231EAF05-3422-4DAC-AA73-58CB5210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2943225"/>
            <a:ext cx="40005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350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04</a:t>
            </a:r>
            <a:endParaRPr sz="16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23E52D1-858C-446D-9751-0FF54A41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2670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Verification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0B5B1BD5-279E-496E-946C-02BCAE80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59092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How carefully must we</a:t>
            </a:r>
            <a:endParaRPr sz="105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8DA756A-9FF4-422D-A9A2-CB679BD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762375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test?</a:t>
            </a:r>
            <a:endParaRPr sz="10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65766E0-9470-4A4D-8B6B-ED12F9BA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Reasoning effort is a task decision—not a quality button.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4256167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9278AF81-2F70-42FF-ACE5-BAC5CFCD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02 / THE FRAMEWORK</a:t>
            </a:r>
            <a:endParaRPr sz="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0759CDE-87FD-4479-8731-26317397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Three levels. One question.</a:t>
            </a:r>
            <a:endParaRPr sz="2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6E5B637-0EB6-4EDF-8A44-038E292C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1334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125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Choose the lowest reasoning level that can reliably solve the task.</a:t>
            </a:r>
            <a:endParaRPr sz="9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4E14E185-8B02-41FA-AA07-937DE5F4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562100"/>
            <a:ext cx="2628900" cy="2333625"/>
          </a:xfrm>
          <a:prstGeom xmlns:a="http://schemas.openxmlformats.org/drawingml/2006/main" prst="roundRect">
            <a:avLst>
              <a:gd name="adj" fmla="val 73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E864816-CC6F-4E39-80D5-339D6DFA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7526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01 · SPEED</a:t>
            </a:r>
            <a:endParaRPr sz="7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6115355-8E4D-42D9-A782-DBC758DD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0955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Light</a:t>
            </a:r>
            <a:endParaRPr sz="23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BB21998-27C2-4E59-AE6E-AB7C3DE1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6479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Clear, local, reversible.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D73AECE-10C3-4F7C-A0E4-8E25576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2099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Simple helpers, boilerplate, documentation, and routine fixes.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91DC3EC-3AF1-45D7-A920-D70C0C13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1562100"/>
            <a:ext cx="2628900" cy="2333625"/>
          </a:xfrm>
          <a:prstGeom xmlns:a="http://schemas.openxmlformats.org/drawingml/2006/main" prst="roundRect">
            <a:avLst>
              <a:gd name="adj" fmla="val 73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555D1FC-8BF4-4016-9350-7B026F0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7526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02 · CONTEXT</a:t>
            </a:r>
            <a:endParaRPr sz="7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A629593-2D10-4215-A91B-F8331B52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20955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Medium</a:t>
            </a:r>
            <a:endParaRPr sz="23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4E0618-E4BC-4535-B593-A7130433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26479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Everyday development.</a:t>
            </a:r>
            <a:endParaRPr sz="10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65D39FE-A6DC-451D-81CA-0EDF441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2099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Normal features, related files, project conventions, and tests.</a:t>
            </a:r>
            <a:endParaRPr sz="8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1FAF7D6-2787-4331-957E-D43347DA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1562100"/>
            <a:ext cx="2628900" cy="2333625"/>
          </a:xfrm>
          <a:prstGeom xmlns:a="http://schemas.openxmlformats.org/drawingml/2006/main" prst="roundRect">
            <a:avLst>
              <a:gd name="adj" fmla="val 734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5059758-99CF-4DA1-8A3D-70A6E3C2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1752600"/>
            <a:ext cx="2238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03 · RISK</a:t>
            </a:r>
            <a:endParaRPr sz="7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D22338C-0DE2-46CC-A986-8FC59E3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20955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4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Deep</a:t>
            </a:r>
            <a:endParaRPr sz="23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126B846-BE0E-461A-BAD6-907EC8D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26479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1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Ambiguous, complex, high-risk.</a:t>
            </a:r>
            <a:endParaRPr sz="10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70A97BF8-D894-4D1C-9639-987078F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32099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Difficult bugs, architecture, refactors, security, and migration.</a:t>
            </a:r>
            <a:endParaRPr sz="8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2512BC-339E-4D9B-AAA6-2A12BD89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223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1">
                <a:solidFill>
                  <a:srgbClr val="FF6B5E"/>
                </a:solidFill>
                <a:latin typeface="Roboto Mono"/>
                <a:ea typeface="Roboto Mono"/>
                <a:cs typeface="Roboto Mono"/>
              </a:rPr>
              <a:t>Same framework:</a:t>
            </a: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 Claude Code and Codex. Product labels may differ by interface.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6636252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A1853FE-F2F7-4D60-8464-0C83548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086600" y="190500"/>
            <a:ext cx="1619250" cy="819150"/>
          </a:xfrm>
          <a:prstGeom xmlns:a="http://schemas.openxmlformats.org/drawingml/2006/main" prst="roundRect">
            <a:avLst>
              <a:gd name="adj" fmla="val 2093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6D9B2DE-D47C-4BB7-A45E-7FD9821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03 / SAME TASK, TWO TOOLS</a:t>
            </a:r>
            <a:endParaRPr sz="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6A6BB24-B6E8-4D53-B148-64F224BE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0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00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Same task. Same reasoning question.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8357E6A-C58E-4FE4-995D-B13F7C5B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104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125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Choose the effort from the task—not from the tool’s brand.</a:t>
            </a:r>
            <a:endParaRPr sz="10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EB2C4D1-1336-4A82-A400-C6E9537E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524000"/>
            <a:ext cx="8172450" cy="74295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E2C98A8-74A7-4E9F-87AB-19A4B00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7335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</a:t>
            </a:r>
            <a:endParaRPr sz="17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6056A8F-85FE-4376-A6FB-EF10083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6859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400"/>
              </a:lnSpc>
              <a:buNone/>
              <a:defRPr sz="1050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050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Claude Code: Light</a:t>
            </a:r>
            <a:br>
              <a:rPr sz="1050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1050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Codex: Light</a:t>
            </a:r>
            <a:endParaRPr sz="11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0A13970-01F1-42D1-8B21-01330848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733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Simple helpers · boilerplate · docs · routine fixes</a:t>
            </a:r>
            <a:endParaRPr sz="10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6B3CCFB-E4CB-4DE4-B50A-EEDEF4D4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428875"/>
            <a:ext cx="8172450" cy="74295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0108BD1-CC1A-4344-8F71-999C8882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384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</a:t>
            </a:r>
            <a:endParaRPr sz="17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BD40C53-158F-4E4D-AB92-ABF7DCD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5908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400"/>
              </a:lnSpc>
              <a:buNone/>
              <a:def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Claude Code: Medium</a:t>
            </a:r>
            <a:b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Codex: Medium</a:t>
            </a:r>
            <a:endParaRPr sz="11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C53A069-D38E-447F-8CCF-C9E4492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6384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Normal features · related files · tests · integration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F15591B-91C3-4EF9-94B4-FCCECE14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333750"/>
            <a:ext cx="8172450" cy="742950"/>
          </a:xfrm>
          <a:prstGeom xmlns:a="http://schemas.openxmlformats.org/drawingml/2006/main" prst="roundRect">
            <a:avLst>
              <a:gd name="adj" fmla="val 1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F2A5ED5-B5EA-4E43-B73A-8F06DBF7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543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</a:t>
            </a:r>
            <a:endParaRPr sz="17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8C09DE5-4DF7-4A1D-95C6-C83F4E5B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3495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400"/>
              </a:lnSpc>
              <a:buNone/>
              <a:def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Claude Code: Deep</a:t>
            </a:r>
            <a:b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1050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Codex: Deep</a:t>
            </a:r>
            <a:endParaRPr sz="11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4AED6E-906A-4D80-B0C0-CCCAF65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543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Difficult bugs · refactors · architecture · security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299D940-7FA3-4521-885B-70CC676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305300"/>
            <a:ext cx="8172450" cy="457200"/>
          </a:xfrm>
          <a:prstGeom xmlns:a="http://schemas.openxmlformats.org/drawingml/2006/main" prst="roundRect">
            <a:avLst>
              <a:gd name="adj" fmla="val 291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8D7C5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9D7FDD2-AFB8-4704-9D49-73B87AA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4438650"/>
            <a:ext cx="782955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125" b="1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Takeaway:</a:t>
            </a:r>
            <a:r>
              <a:rPr sz="1125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 the same task generally deserves the same reasoning level in both tools.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91340976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DAAF9224-CE36-4400-AE11-1FFE0A3C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1381125"/>
            <a:ext cx="2657475" cy="1714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E93BEF5-7981-4A70-BD51-CC1FB32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04 / AUDIENCE SCENARIO</a:t>
            </a:r>
            <a:endParaRPr sz="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D608210-5CCA-40F4-8E79-5045BAA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Easy task: how much thinking?</a:t>
            </a:r>
            <a:endParaRPr sz="285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7BF0484-73A8-4F8B-A2AE-9C8F9002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381125"/>
            <a:ext cx="5334000" cy="17145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821939-5500-4E33-BA9F-2F5ED98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543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SCENARIO</a:t>
            </a:r>
            <a:endParaRPr sz="7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4091337-EB30-4F7F-90C4-594336B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8764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725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725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“Add a helper that formats a date as </a:t>
            </a:r>
            <a:r>
              <a:rPr sz="1725" b="1">
                <a:solidFill>
                  <a:srgbClr val="48D7C5"/>
                </a:solidFill>
                <a:latin typeface="Roboto Slab Bold"/>
                <a:ea typeface="Roboto Slab Bold"/>
                <a:cs typeface="Roboto Slab Bold"/>
              </a:rPr>
              <a:t>YYYY-MM-DD</a:t>
            </a:r>
            <a:r>
              <a:rPr sz="1725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 and write a unit test.”</a:t>
            </a:r>
            <a:endParaRPr sz="17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46F66D4-35D3-41AB-A588-8DEC54D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15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What would you choose?</a:t>
            </a:r>
            <a:endParaRPr sz="14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84DD24E-0513-4ABD-BA7D-4957038A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952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975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75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Claude Code? Codex?</a:t>
            </a:r>
            <a:br>
              <a:rPr sz="975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</a:br>
            <a:r>
              <a:rPr sz="975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Light, Medium, or Deep?</a:t>
            </a:r>
            <a:endParaRPr sz="9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89F59ABA-8F92-4F31-81C4-E0E8BC8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524125"/>
            <a:ext cx="6858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8124196-C79B-4E59-96EF-F43CB20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609850"/>
            <a:ext cx="68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Light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C722B93-EE20-44A6-8568-3929A2DD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2524125"/>
            <a:ext cx="6858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0492D97-00D3-4637-A488-C469757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2609850"/>
            <a:ext cx="68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Medium</a:t>
            </a:r>
            <a:endParaRPr sz="10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D0216B5-AAC9-4573-BEA4-B723AA3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524125"/>
            <a:ext cx="6858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821D7C5-9C1C-40AA-839F-F2B603FA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609850"/>
            <a:ext cx="6858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7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Deep</a:t>
            </a:r>
            <a:endParaRPr sz="10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4B42789-6C88-44E1-AE24-E81B1A2A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47662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1875" b="1">
                <a:solidFill>
                  <a:srgbClr val="FF6B5E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75" b="1">
                <a:solidFill>
                  <a:srgbClr val="FF6B5E"/>
                </a:solidFill>
                <a:latin typeface="Roboto Slab Bold"/>
                <a:ea typeface="Roboto Slab Bold"/>
                <a:cs typeface="Roboto Slab Bold"/>
              </a:rPr>
              <a:t>Reveal:</a:t>
            </a:r>
            <a:br>
              <a:rPr sz="1875" b="1">
                <a:solidFill>
                  <a:srgbClr val="FF6B5E"/>
                </a:solidFill>
                <a:latin typeface="Roboto Slab Bold"/>
                <a:ea typeface="Roboto Slab Bold"/>
                <a:cs typeface="Roboto Slab Bold"/>
              </a:rPr>
            </a:br>
            <a:r>
              <a:rPr sz="1875" b="1">
                <a:solidFill>
                  <a:srgbClr val="FF6B5E"/>
                </a:solidFill>
                <a:latin typeface="Roboto Slab Bold"/>
                <a:ea typeface="Roboto Slab Bold"/>
                <a:cs typeface="Roboto Slab Bold"/>
              </a:rPr>
              <a:t>Light / Light</a:t>
            </a:r>
            <a:endParaRPr sz="18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C6F444-D0E0-49CC-8FE2-DAB98F9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533775"/>
            <a:ext cx="5514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25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The task is deterministic, local, reversible, and easy to verify. Deep reasoning adds time without much benefit.</a:t>
            </a:r>
            <a:endParaRPr sz="9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01A8033-EE4C-470B-8B4B-10BA337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Vote first. Reveal second.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50350233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A0A6D73-9244-4078-8CE6-10F30083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05 / AUDIENCE SCENARIO</a:t>
            </a:r>
            <a:endParaRPr sz="8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5C60E82-EF04-43F3-875B-85190685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Normal feature: how much thinking?</a:t>
            </a:r>
            <a:endParaRPr sz="28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2B01CD3-0DB2-4BCE-97F8-AFEA5952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2954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THE REQUEST</a:t>
            </a:r>
            <a:endParaRPr sz="7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A5A90FA-D892-43F7-8C76-FF6BA31A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66687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65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65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“Add CSV upload to an existing application. Validate rows, show errors, store valid records, and add tests.”</a:t>
            </a:r>
            <a:endParaRPr sz="16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212001A-86F0-4A25-BD20-5ABADACE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7622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This touches validation, persistence, UI, and verification.</a:t>
            </a:r>
            <a:endParaRPr sz="85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232AD86-4E93-4ABE-91B1-CD36428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1285875"/>
            <a:ext cx="2647950" cy="1857375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82B934D-3473-4F3C-908A-3432A669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4573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15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0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Your vote?</a:t>
            </a:r>
            <a:endParaRPr sz="15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0AFFAF3-2F19-468F-96BF-F270FCAE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809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00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00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Choose a level for Claude Code and Codex.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D985BB4-A298-4418-AF9C-418F9716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095500"/>
            <a:ext cx="2286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63036ED-0542-43B1-ABFA-3209BE3F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2152650"/>
            <a:ext cx="207645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○ Light</a:t>
            </a:r>
            <a:endParaRPr sz="9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773B515-8047-413B-872A-8E27F68F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419350"/>
            <a:ext cx="2286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C3B0CA-07A4-46C8-A3AC-E8157C72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2476500"/>
            <a:ext cx="207645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○ Medium</a:t>
            </a:r>
            <a:endParaRPr sz="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17E0A13-8C70-45F6-99A4-710D1A5A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743200"/>
            <a:ext cx="2286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2E617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0FFA380-BB43-4B44-8716-A2D9F12A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2800350"/>
            <a:ext cx="207645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0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○ Deep</a:t>
            </a:r>
            <a:endParaRPr sz="9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03FAD31-5258-48DF-BB28-8A3AA1C8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371850"/>
            <a:ext cx="8172450" cy="87630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CF1595A-95D8-48B3-AB08-56967B9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5147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REVEAL · CLAUDE CODE / CODEX</a:t>
            </a:r>
            <a:endParaRPr sz="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B2BEE4A-7978-42DE-82C1-B08D871F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781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 / Medium</a:t>
            </a:r>
            <a:endParaRPr sz="17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9101501-5A77-4669-9C6A-58E866E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09975"/>
            <a:ext cx="509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600"/>
              </a:lnSpc>
              <a:buNone/>
              <a:defRPr sz="1050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Why:</a:t>
            </a:r>
            <a:r>
              <a:rPr sz="105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 the agent must inspect the repository, coordinate several </a:t>
            </a:r>
            <a:r>
              <a:rPr sz="105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files, and run tests—but the requirements are clear.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C848F77-19DA-44CE-AA01-6B4FC1B5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Enough thinking to integrate reliably.</a:t>
            </a:r>
            <a:endParaRPr sz="7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487922F-8B8C-4F10-AEAE-D1113BA9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6477000" y="838200"/>
            <a:ext cx="2190750" cy="1000125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48D7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862973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FACC116-C3F7-412C-B7E4-DFE1919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">
            <a:off x="6667500" y="190500"/>
            <a:ext cx="2000250" cy="1238250"/>
          </a:xfrm>
          <a:prstGeom xmlns:a="http://schemas.openxmlformats.org/drawingml/2006/main" prst="roundRect">
            <a:avLst>
              <a:gd name="adj" fmla="val 13846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E7843D-5969-46B5-8EA5-625E98C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06 / AUDIENCE SCENARIO · DIFFICULT BUG</a:t>
            </a:r>
            <a:endParaRPr sz="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9A689B8-1E16-4215-A184-12747BA8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1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Now the cost of being wrong is high.</a:t>
            </a:r>
            <a:endParaRPr sz="2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80636A6-CC6C-4FD4-99BB-B338A98E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3144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THE SCENARIO</a:t>
            </a:r>
            <a:endParaRPr sz="7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9013E2C-E365-4CD7-B444-44891A0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647825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400"/>
              </a:lnSpc>
              <a:buNone/>
              <a:defRPr sz="16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6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“Users are randomly logged out after refreshing the page.”</a:t>
            </a:r>
            <a:endParaRPr sz="18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6723F86-7488-405B-9082-EBD43BE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33362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1050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It happens in production, but not locally. Find the root cause and add a regression test.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F0DD8B6-76C2-49B8-89A3-66B8A28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905125"/>
            <a:ext cx="52387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DCBD854-2571-415F-B835-6B28B0CF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038475"/>
            <a:ext cx="4953000" cy="368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600"/>
              </a:lnSpc>
              <a:buNone/>
              <a:defRPr sz="863" b="0">
                <a:solidFill>
                  <a:srgbClr val="48D7C5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Possible surfaces:</a:t>
            </a:r>
            <a:r>
              <a:rPr sz="863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 cookies · tokens · session state · timing · </a:t>
            </a:r>
            <a:r>
              <a:rPr sz="863" b="0">
                <a:solidFill>
                  <a:srgbClr val="48D7C5"/>
                </a:solidFill>
                <a:latin typeface="Roboto Mono"/>
                <a:ea typeface="Roboto Mono"/>
                <a:cs typeface="Roboto Mono"/>
              </a:rPr>
              <a:t>deployment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3143727-7248-4716-8E0B-17C590D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1314450"/>
            <a:ext cx="2657475" cy="2066925"/>
          </a:xfrm>
          <a:prstGeom xmlns:a="http://schemas.openxmlformats.org/drawingml/2006/main" prst="roundRect">
            <a:avLst>
              <a:gd name="adj" fmla="val 829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3CD5F4B-11CA-4AA7-946A-1B25E926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495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AUDIENCE VOTE</a:t>
            </a:r>
            <a:endParaRPr sz="7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205EEFA-19A0-41FF-A995-8C9C1C3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8478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  <a:def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Light?</a:t>
            </a:r>
            <a:b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</a:b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Medium?</a:t>
            </a:r>
            <a:b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</a:b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Deep?</a:t>
            </a:r>
            <a:endParaRPr sz="15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D13FC07-21C5-4622-B72E-097D26E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933700"/>
            <a:ext cx="685800" cy="27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LIGHT</a:t>
            </a:r>
            <a:endParaRPr sz="8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ED37CB4-AA10-4986-A32C-B884C3FC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933700"/>
            <a:ext cx="685800" cy="27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MEDIUM</a:t>
            </a:r>
            <a:endParaRPr sz="85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68EA66D-28AC-4365-AEA1-555EDADC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933700"/>
            <a:ext cx="685800" cy="274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DEEP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CDF8132-BAFA-44B2-8DE7-D7A6E767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600450"/>
            <a:ext cx="8172450" cy="8382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F69BC6F-EBCE-4683-85A6-8BADACA6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7433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REVEAL · CLAUDE CODE / CODEX</a:t>
            </a:r>
            <a:endParaRPr sz="7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5A28CA0-7E22-452C-A61F-E19B4ED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8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 / DEEP</a:t>
            </a:r>
            <a:endParaRPr sz="17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8459FFA-28BA-411D-A49F-53F40E7A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7528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990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990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The symptom is ambiguous and cross-cutting. Deep reasoning gives the agent room to form hypotheses, inspect evidence, reproduce the failure, and verify the fix.</a:t>
            </a:r>
            <a:endParaRPr sz="9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0A206E-48A0-4B3E-90CE-E357EAAC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Deep reasoning is justified when investigation is more valuable than speed.</a:t>
            </a:r>
            <a:endParaRPr sz="7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987D848-4BC9-4F8F-8C1E-EA887E03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1762125" y="4229100"/>
            <a:ext cx="3048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1B4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86314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B208EEE-28A7-4512-8FF4-75391459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6858000" y="457200"/>
            <a:ext cx="1809750" cy="1123950"/>
          </a:xfrm>
          <a:prstGeom xmlns:a="http://schemas.openxmlformats.org/drawingml/2006/main" prst="roundRect">
            <a:avLst>
              <a:gd name="adj" fmla="val 15254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8947082-C609-4938-8C2E-57157C4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07 / THE TRAP</a:t>
            </a:r>
            <a:endParaRPr sz="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0594D54-B560-42A7-BB03-0941070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5245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30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0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An unclear prompt beats deep reasoning.</a:t>
            </a:r>
            <a:endParaRPr sz="28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F9D2894F-49C9-4550-8E33-D70F7067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619250"/>
            <a:ext cx="3905250" cy="1762125"/>
          </a:xfrm>
          <a:prstGeom xmlns:a="http://schemas.openxmlformats.org/drawingml/2006/main" prst="roundRect">
            <a:avLst>
              <a:gd name="adj" fmla="val 97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338C4-0ECD-40CA-B327-2DDA0A6D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80975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AUDIENCE SCENARIO</a:t>
            </a:r>
            <a:endParaRPr sz="7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E1B9C16-46EA-405D-A1DA-47A3F58F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2383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4800"/>
              </a:lnSpc>
              <a:buNone/>
              <a:defRPr sz="21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1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“Fix the login bug.”</a:t>
            </a:r>
            <a:endParaRPr sz="27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AA7F0E5-D22C-4BF4-94B1-B2FF15D7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98132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863" b="0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Ask the room: Which reasoning level would you choose?</a:t>
            </a:r>
            <a:endParaRPr sz="8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BC96431-6FE4-4D81-8134-9067E9E0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16573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42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First, ask for the missing pieces.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D8B48F6-C177-485C-A177-6AA49045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133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REPRODUCE</a:t>
            </a:r>
            <a:endParaRPr sz="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837A4F6-A47B-4434-9B39-4E3FBE1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3907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What steps trigger it?</a:t>
            </a:r>
            <a:endParaRPr sz="9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05772EE-6929-4BFD-9314-29DBF492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133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EXPECTED</a:t>
            </a:r>
            <a:endParaRPr sz="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80EED75-9D46-4457-B596-AF912576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3907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What should happen</a:t>
            </a:r>
            <a:endParaRPr sz="900"/>
          </a:p>
          <a:p xmlns:a="http://schemas.openxmlformats.org/drawingml/2006/main">
            <a:pPr marL="0" indent="0" algn="l">
              <a:lnSpc>
                <a:spcPct val="108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instead?</a:t>
            </a:r>
            <a:endParaRPr sz="9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DD28188-A1AA-415C-AC6E-BD79DB6C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6289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>
                <a:solidFill>
                  <a:srgbClr val="00695C"/>
                </a:solidFill>
                <a:latin typeface="Roboto Mono"/>
                <a:ea typeface="Roboto Mono"/>
                <a:cs typeface="Roboto Mono"/>
              </a:rPr>
              <a:t/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194D97B-7AA0-4249-9774-55B48D28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2838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ENVIRONMENT</a:t>
            </a:r>
            <a:endParaRPr sz="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A317D16-A548-4649-92F8-2F67C610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095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Where does it happen?</a:t>
            </a:r>
            <a:endParaRPr sz="9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4CCEED-0DC9-432B-AF62-6BF608D5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838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EVIDENCE</a:t>
            </a:r>
            <a:endParaRPr sz="8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DF1D63F-CD3C-4FD5-BFFE-6EF4BD19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095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93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What logs or errors exist?</a:t>
            </a:r>
            <a:endParaRPr sz="9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0C787BD-4D86-4614-AFB1-086D7D2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3657600"/>
            <a:ext cx="8172450" cy="495300"/>
          </a:xfrm>
          <a:prstGeom xmlns:a="http://schemas.openxmlformats.org/drawingml/2006/main" prst="roundRect">
            <a:avLst>
              <a:gd name="adj" fmla="val 2692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8D7C5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19C2784-7DE3-420F-A920-7F2CACED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3810000"/>
            <a:ext cx="7810500" cy="44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600"/>
              </a:lnSpc>
              <a:buNone/>
              <a:defRPr sz="1275" b="1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275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Correct first move:</a:t>
            </a:r>
            <a:r>
              <a:rPr sz="1275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 clarify the task before escalating reasoning.</a:t>
            </a:r>
            <a:endParaRPr sz="13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3DCBC16-DE1F-459B-861F-868C506E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848225"/>
            <a:ext cx="817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 spc="1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A better prompt makes every reasoning level more useful.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025460643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21EADA9B-26AE-4696-A965-434016CA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7286625" y="171450"/>
            <a:ext cx="1381125" cy="809625"/>
          </a:xfrm>
          <a:prstGeom xmlns:a="http://schemas.openxmlformats.org/drawingml/2006/main" prst="roundRect">
            <a:avLst>
              <a:gd name="adj" fmla="val 21176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C84E46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4F5E25-2B67-492A-9BF9-EBDDAD46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08 / PRACTICAL SYNTHESIS</a:t>
            </a:r>
            <a:endParaRPr sz="8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1F7364-5148-45AB-824B-EC988C85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5334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3200"/>
              </a:lnSpc>
              <a:buNone/>
              <a:defRPr sz="27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2775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Choose effort from clarity, scope, and risk.</a:t>
            </a:r>
            <a:endParaRPr sz="2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F17E3D2-032D-451E-832C-0DF2176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0096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101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Same logic for Claude Code and Codex. Start with the task, then choose the effort.</a:t>
            </a:r>
            <a:endParaRPr sz="9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DC198C9-D8C3-496C-B651-48DFE01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428750"/>
            <a:ext cx="2476500" cy="1162050"/>
          </a:xfrm>
          <a:prstGeom xmlns:a="http://schemas.openxmlformats.org/drawingml/2006/main" prst="roundRect">
            <a:avLst>
              <a:gd name="adj" fmla="val 131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2D0CA2-E58C-420D-B17C-FE134A5D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4287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9BE3F74-15E6-40B5-B659-8C0D117F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5811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01 · CLARITY</a:t>
            </a:r>
            <a:endParaRPr sz="7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71F91A5-1EC3-492A-A044-9855984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8573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600"/>
              </a:lnSpc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Clear and local?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B2EBC02-48EA-4011-B4EB-1BF7704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2383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One file. Predictable. Easy to verify.</a:t>
            </a:r>
            <a:endParaRPr sz="8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835BADD-3E09-41F7-AA3E-207D8E7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1428750"/>
            <a:ext cx="2476500" cy="1162050"/>
          </a:xfrm>
          <a:prstGeom xmlns:a="http://schemas.openxmlformats.org/drawingml/2006/main" prst="roundRect">
            <a:avLst>
              <a:gd name="adj" fmla="val 131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9779A85-6146-4E60-B93E-DF30FE6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14287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7F1889D-2B5B-4F62-B551-D3256541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158115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02 · SCOPE</a:t>
            </a:r>
            <a:endParaRPr sz="7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CD97E65-FB77-43F4-AFE7-3AFC151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18573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600"/>
              </a:lnSpc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Normal feature?</a:t>
            </a:r>
            <a:endParaRPr sz="12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DB19438-1E82-41FA-9272-3F42A54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2383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Known requirements. Several files. Tests.</a:t>
            </a:r>
            <a:endParaRPr sz="8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C33E46E-2DA0-45C9-960D-CFACE3D0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743200"/>
            <a:ext cx="2476500" cy="1162050"/>
          </a:xfrm>
          <a:prstGeom xmlns:a="http://schemas.openxmlformats.org/drawingml/2006/main" prst="roundRect">
            <a:avLst>
              <a:gd name="adj" fmla="val 131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20AE3F7-F7B7-4627-B78A-9F171A47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7432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AB08EFD-CA81-4DA0-A9BC-74F0643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89560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03 · RISK</a:t>
            </a:r>
            <a:endParaRPr sz="7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53730EE0-5F87-4B95-8B79-61BB493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1718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600"/>
              </a:lnSpc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Ambiguous or high-risk?</a:t>
            </a:r>
            <a:endParaRPr sz="12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2244CBF-C813-4F4D-A4B3-9A0E193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5528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Hidden causes. Production impact. High cost of error.</a:t>
            </a:r>
            <a:endParaRPr sz="8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FF095D0-2033-43CC-ABBD-3F87CE18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743200"/>
            <a:ext cx="2476500" cy="1162050"/>
          </a:xfrm>
          <a:prstGeom xmlns:a="http://schemas.openxmlformats.org/drawingml/2006/main" prst="roundRect">
            <a:avLst>
              <a:gd name="adj" fmla="val 1311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D1FEA95-466D-4FC2-972E-DCFAC94E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7432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3C86418-C0D9-4C16-9FBB-AC959135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2895600"/>
            <a:ext cx="214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04 · ESCALATE</a:t>
            </a:r>
            <a:endParaRPr sz="7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B5BB0C36-1495-43DB-9871-B9B17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17182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600"/>
              </a:lnSpc>
              <a:buNone/>
              <a:def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Start lower.</a:t>
            </a:r>
            <a:endParaRPr sz="12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C491E05-DB73-4A05-9CFA-7F3227B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35528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863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Raise the level if the first attempt fails.</a:t>
            </a:r>
            <a:endParaRPr sz="85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EF6535FF-61D9-49EC-804E-CFE3FCF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725" b="1">
                <a:solidFill>
                  <a:srgbClr val="48D7C5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725" b="1">
                <a:solidFill>
                  <a:srgbClr val="48D7C5"/>
                </a:solidFill>
                <a:latin typeface="Roboto Slab Bold"/>
                <a:ea typeface="Roboto Slab Bold"/>
                <a:cs typeface="Roboto Slab Bold"/>
              </a:rPr>
              <a:t>→</a:t>
            </a:r>
            <a:endParaRPr sz="15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CF5B231-C420-4E2C-B690-22CA6947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3333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725" b="1">
                <a:solidFill>
                  <a:srgbClr val="48D7C5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725" b="1">
                <a:solidFill>
                  <a:srgbClr val="48D7C5"/>
                </a:solidFill>
                <a:latin typeface="Roboto Slab Bold"/>
                <a:ea typeface="Roboto Slab Bold"/>
                <a:cs typeface="Roboto Slab Bold"/>
              </a:rPr>
              <a:t>→</a:t>
            </a:r>
            <a:endParaRPr sz="15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BD077FA-52FC-4D15-8C2A-C8BFB2CB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1428750"/>
            <a:ext cx="2867025" cy="819150"/>
          </a:xfrm>
          <a:prstGeom xmlns:a="http://schemas.openxmlformats.org/drawingml/2006/main" prst="roundRect">
            <a:avLst>
              <a:gd name="adj" fmla="val 1627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EC544797-1E48-4CFC-BDD2-8CA24F3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543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</a:t>
            </a:r>
            <a:endParaRPr sz="14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DC27918F-785D-429E-BE98-4E5C0A92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8859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Speed first.</a:t>
            </a:r>
            <a:endParaRPr sz="8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0C92DB6-A379-466E-BD67-ACD25F91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16192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63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Claude Code: Light</a:t>
            </a:r>
            <a:br>
              <a:rPr sz="863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863" b="1">
                <a:solidFill>
                  <a:srgbClr val="F6F2EA"/>
                </a:solidFill>
                <a:latin typeface="Roboto Mono Bold"/>
                <a:ea typeface="Roboto Mono Bold"/>
                <a:cs typeface="Roboto Mono Bold"/>
              </a:rPr>
              <a:t>Codex: Light</a:t>
            </a:r>
            <a:endParaRPr sz="80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2B0AA377-5F59-435F-A200-E58A7F33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343150"/>
            <a:ext cx="2867025" cy="819150"/>
          </a:xfrm>
          <a:prstGeom xmlns:a="http://schemas.openxmlformats.org/drawingml/2006/main" prst="roundRect">
            <a:avLst>
              <a:gd name="adj" fmla="val 1627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5BEF7ADA-B7BF-463E-BABF-B4EFE613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457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</a:t>
            </a:r>
            <a:endParaRPr sz="1450"/>
          </a:p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A215B606-A5BF-440B-A104-614422B8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00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Everyday coordination.</a:t>
            </a:r>
            <a:endParaRPr sz="800"/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D36465AB-2FD9-4AD1-9EC8-B788F54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5336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Claude Code: Medium</a:t>
            </a:r>
            <a:b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Codex: Medium</a:t>
            </a:r>
            <a:endParaRPr sz="800"/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014975C2-40CA-4D3C-B019-6A2B8B69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3257550"/>
            <a:ext cx="2867025" cy="819150"/>
          </a:xfrm>
          <a:prstGeom xmlns:a="http://schemas.openxmlformats.org/drawingml/2006/main" prst="roundRect">
            <a:avLst>
              <a:gd name="adj" fmla="val 1627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9DB4240-6B9F-4CC0-B7D4-E20BDD9D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371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75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</a:t>
            </a:r>
            <a:endParaRPr sz="1450"/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AAF2C712-2B77-420C-939B-3A0A225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37147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Investigate and verify.</a:t>
            </a:r>
            <a:endParaRPr sz="800"/>
          </a:p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E2CFA699-6516-4EF7-A2C1-26B6C4B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34480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Claude Code: Deep</a:t>
            </a:r>
            <a:b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</a:br>
            <a:r>
              <a:rPr sz="863" b="1">
                <a:solidFill>
                  <a:srgbClr val="48D7C5"/>
                </a:solidFill>
                <a:latin typeface="Roboto Mono Bold"/>
                <a:ea typeface="Roboto Mono Bold"/>
                <a:cs typeface="Roboto Mono Bold"/>
              </a:rPr>
              <a:t>Codex: Deep</a:t>
            </a:r>
            <a:endParaRPr sz="800"/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6887D558-F924-4BEA-92A0-115B1CD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238625"/>
            <a:ext cx="8172450" cy="514350"/>
          </a:xfrm>
          <a:prstGeom xmlns:a="http://schemas.openxmlformats.org/drawingml/2006/main" prst="roundRect">
            <a:avLst>
              <a:gd name="adj" fmla="val 2592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8D7C5"/>
            </a:solidFill>
            <a:prstDash val="solid"/>
          </a:ln>
        </p:spPr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AF6D9A0E-3187-49AA-A8FF-DF454776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4391025"/>
            <a:ext cx="7810500" cy="3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  <a:defRPr sz="1163" b="1">
                <a:solidFill>
                  <a:srgbClr val="F6F2EA"/>
                </a:solidFill>
                <a:latin typeface="Roboto Mono"/>
                <a:ea typeface="Roboto Mono"/>
                <a:cs typeface="Roboto Mono"/>
              </a:defRPr>
            </a:pPr>
            <a:r>
              <a:rPr sz="1163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Rule of thumb:</a:t>
            </a:r>
            <a:r>
              <a:rPr sz="1163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 use the lowest level that can reliably solve the task. Clarify before </a:t>
            </a:r>
            <a:r>
              <a:rPr sz="1163" b="1">
                <a:solidFill>
                  <a:srgbClr val="F6F2EA"/>
                </a:solidFill>
                <a:latin typeface="Roboto Mono"/>
                <a:ea typeface="Roboto Mono"/>
                <a:cs typeface="Roboto Mono"/>
              </a:rPr>
              <a:t>escalating.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0994977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A2D"/>
            </a:gs>
            <a:gs pos="58000">
              <a:srgbClr val="0B2545"/>
            </a:gs>
            <a:gs pos="100000">
              <a:srgbClr val="0C2B3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266BD8B-22F5-41EC-9838-536053F9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4000500"/>
            <a:ext cx="5514975" cy="952500"/>
          </a:xfrm>
          <a:prstGeom xmlns:a="http://schemas.openxmlformats.org/drawingml/2006/main" prst="roundRect">
            <a:avLst>
              <a:gd name="adj" fmla="val 18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153B55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47FC724-0F69-4AC1-BA16-EA7C260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2667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25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825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08 / CLOSING THOUGHT</a:t>
            </a:r>
            <a:endParaRPr sz="7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C82D785-426B-46D0-A2B3-0F97BE4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72390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2400"/>
              </a:lnSpc>
              <a:buNone/>
              <a:defRPr sz="3450" b="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defRPr>
            </a:pPr>
            <a:r>
              <a:rPr sz="3450" b="1" spc="-1">
                <a:solidFill>
                  <a:srgbClr val="F6F2EA"/>
                </a:solidFill>
                <a:latin typeface="Roboto Slab Black"/>
                <a:ea typeface="Roboto Slab Black"/>
                <a:cs typeface="Roboto Slab Black"/>
              </a:rPr>
              <a:t>Think just enough.</a:t>
            </a:r>
            <a:endParaRPr sz="3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8CF5DB2-346C-4A98-AD3E-46448D4F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17526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400"/>
              </a:lnSpc>
              <a:buNone/>
              <a:defRPr sz="1575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575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“Use Light for speed, Medium for everyday development, and Deep when the cost of being wrong is higher than the cost of waiting.”</a:t>
            </a:r>
            <a:endParaRPr sz="15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5598ED3B-A7DF-4E20-8F88-C1E31FB0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000125"/>
            <a:ext cx="2657475" cy="628650"/>
          </a:xfrm>
          <a:prstGeom xmlns:a="http://schemas.openxmlformats.org/drawingml/2006/main" prst="roundRect">
            <a:avLst>
              <a:gd name="adj" fmla="val 2121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6B5E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11990A39-1BE9-4566-9117-982F0B2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10953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LIGHT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E94617-90D6-4147-A4FF-34C0E30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9375" y="13811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Clear · local · reversible</a:t>
            </a:r>
            <a:endParaRPr sz="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5AC37C9-54A7-4838-BB06-2BD42FC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1762125"/>
            <a:ext cx="2657475" cy="628650"/>
          </a:xfrm>
          <a:prstGeom xmlns:a="http://schemas.openxmlformats.org/drawingml/2006/main" prst="roundRect">
            <a:avLst>
              <a:gd name="adj" fmla="val 2121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F0C84CC-377D-4043-BAB1-E0864095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8573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MEDIUM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61033961-D6E0-4C38-BD76-273676D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1431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Context · coordination · tests</a:t>
            </a:r>
            <a:endParaRPr sz="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785D025-169D-4FD7-9B3C-967DEBC4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524125"/>
            <a:ext cx="2657475" cy="628650"/>
          </a:xfrm>
          <a:prstGeom xmlns:a="http://schemas.openxmlformats.org/drawingml/2006/main" prst="roundRect">
            <a:avLst>
              <a:gd name="adj" fmla="val 2121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E6173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248BC0F-F67C-4EBE-AC18-8D4ADADB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26193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350" b="1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DEEP</a:t>
            </a:r>
            <a:endParaRPr sz="12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6827EF-9BC4-4470-87DE-1C40091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2905125"/>
            <a:ext cx="2333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Ambiguous · complex · high-risk</a:t>
            </a:r>
            <a:endParaRPr sz="6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7ACD4E6-BB5B-4743-9130-EBD56F50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" y="4200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788" b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defRPr>
            </a:pPr>
            <a:r>
              <a:rPr sz="788" b="1" spc="1">
                <a:solidFill>
                  <a:srgbClr val="FF6B5E"/>
                </a:solidFill>
                <a:latin typeface="Roboto Mono Bold"/>
                <a:ea typeface="Roboto Mono Bold"/>
                <a:cs typeface="Roboto Mono Bold"/>
              </a:rPr>
              <a:t>DISCUSSION PROMPT</a:t>
            </a:r>
            <a:endParaRPr sz="65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464D271-7D8C-40F5-ACD5-24E93F7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171950"/>
            <a:ext cx="532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What is a task where you changed reasoning level after the first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AFF83CD-3CFE-437F-BEB4-02EF4A5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438650"/>
            <a:ext cx="532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defRPr>
            </a:pPr>
            <a:r>
              <a:rPr sz="1200" b="0">
                <a:solidFill>
                  <a:srgbClr val="F6F2EA"/>
                </a:solidFill>
                <a:latin typeface="Roboto Slab Bold"/>
                <a:ea typeface="Roboto Slab Bold"/>
                <a:cs typeface="Roboto Slab Bold"/>
              </a:rPr>
              <a:t>attempt failed?</a:t>
            </a:r>
            <a:endParaRPr sz="12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5C875905-C060-4FF0-8708-DE061822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752975"/>
            <a:ext cx="5324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000"/>
              </a:lnSpc>
              <a:buNone/>
              <a:def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defRPr>
            </a:pPr>
            <a:r>
              <a:rPr sz="788" b="0">
                <a:solidFill>
                  <a:srgbClr val="A8C4CC"/>
                </a:solidFill>
                <a:latin typeface="Roboto Mono"/>
                <a:ea typeface="Roboto Mono"/>
                <a:cs typeface="Roboto Mono"/>
              </a:rPr>
              <a:t>Same task → Claude Code level vs. Codex level → compare the result.</a:t>
            </a:r>
            <a:endParaRPr sz="6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874C1F2-4341-4055-A383-C360FF9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6953250" y="238125"/>
            <a:ext cx="1666875" cy="1000125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1B49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50522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e321b35e3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pic>
        <p:nvPicPr>
          <p:cNvPr id="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f25b7605f47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522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2026-08-18T12:00:11.4140000Z</dcterms:created>
  <dcterms:modified xsi:type="dcterms:W3CDTF">2026-08-18T12:00:11.4140000Z</dcterms:modified>
</coreProperties>
</file>